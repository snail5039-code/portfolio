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6d26b3dbd40ce" /><Relationship Type="http://schemas.openxmlformats.org/officeDocument/2006/relationships/extended-properties" Target="/docProps/app.xml" Id="R8746bab3cec84fa8" /><Relationship Type="http://schemas.openxmlformats.org/officeDocument/2006/relationships/officeDocument" Target="/ppt/presentation.xml" Id="Rc9c9d00542fe4b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89479979e84a81"/>
  </p:sldMasterIdLst>
  <p:notesMasterIdLst>
    <p:notesMasterId xmlns:r="http://schemas.openxmlformats.org/officeDocument/2006/relationships" r:id="Rc494e14d894c4313"/>
  </p:notesMasterIdLst>
  <p:sldIdLst>
    <p:sldId xmlns:r="http://schemas.openxmlformats.org/officeDocument/2006/relationships" id="256" r:id="R167d3656484f4b1e"/>
    <p:sldId xmlns:r="http://schemas.openxmlformats.org/officeDocument/2006/relationships" id="257" r:id="R29d4bcd0bd2349ab"/>
    <p:sldId xmlns:r="http://schemas.openxmlformats.org/officeDocument/2006/relationships" id="258" r:id="Re3dcf91b7eca4f23"/>
    <p:sldId xmlns:r="http://schemas.openxmlformats.org/officeDocument/2006/relationships" id="259" r:id="R60bceadcee4446ef"/>
    <p:sldId xmlns:r="http://schemas.openxmlformats.org/officeDocument/2006/relationships" id="260" r:id="R1483cd5c19f3458d"/>
    <p:sldId xmlns:r="http://schemas.openxmlformats.org/officeDocument/2006/relationships" id="261" r:id="Rbfed9013a0c84123"/>
    <p:sldId xmlns:r="http://schemas.openxmlformats.org/officeDocument/2006/relationships" id="262" r:id="Rb0521d458a764428"/>
    <p:sldId xmlns:r="http://schemas.openxmlformats.org/officeDocument/2006/relationships" id="263" r:id="Rc9562bae2a704b5b"/>
    <p:sldId xmlns:r="http://schemas.openxmlformats.org/officeDocument/2006/relationships" id="264" r:id="R7a7bf83d97d846e6"/>
    <p:sldId xmlns:r="http://schemas.openxmlformats.org/officeDocument/2006/relationships" id="265" r:id="R60e842d5368f4964"/>
    <p:sldId xmlns:r="http://schemas.openxmlformats.org/officeDocument/2006/relationships" id="266" r:id="R2c4c973a147e4854"/>
    <p:sldId xmlns:r="http://schemas.openxmlformats.org/officeDocument/2006/relationships" id="267" r:id="R394ba974cbc9489a"/>
    <p:sldId xmlns:r="http://schemas.openxmlformats.org/officeDocument/2006/relationships" id="268" r:id="R93a1b29f56e64abc"/>
    <p:sldId xmlns:r="http://schemas.openxmlformats.org/officeDocument/2006/relationships" id="269" r:id="R2080c40b83d34407"/>
    <p:sldId xmlns:r="http://schemas.openxmlformats.org/officeDocument/2006/relationships" id="270" r:id="R0a3567d571744380"/>
    <p:sldId xmlns:r="http://schemas.openxmlformats.org/officeDocument/2006/relationships" id="271" r:id="Reb0209ee7b3048fe"/>
    <p:sldId xmlns:r="http://schemas.openxmlformats.org/officeDocument/2006/relationships" id="272" r:id="R601213aab81f4bea"/>
    <p:sldId xmlns:r="http://schemas.openxmlformats.org/officeDocument/2006/relationships" id="273" r:id="Rd6980db4e1254d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232d38abc458d" /><Relationship Type="http://schemas.openxmlformats.org/officeDocument/2006/relationships/slideMaster" Target="/ppt/slideMasters/slideMaster1.xml" Id="R8a89479979e84a81" /><Relationship Type="http://schemas.openxmlformats.org/officeDocument/2006/relationships/notesMaster" Target="/ppt/notesMasters/notesMaster1.xml" Id="Rc494e14d894c4313" /><Relationship Type="http://schemas.openxmlformats.org/officeDocument/2006/relationships/presProps" Target="/ppt/presProps.xml" Id="R117c1255aae14f64" /><Relationship Type="http://schemas.openxmlformats.org/officeDocument/2006/relationships/tableStyles" Target="/ppt/tableStyles.xml" Id="R6ce1b8d1a753421a" /><Relationship Type="http://schemas.openxmlformats.org/officeDocument/2006/relationships/slide" Target="/ppt/slides/slide1.xml" Id="R167d3656484f4b1e" /><Relationship Type="http://schemas.openxmlformats.org/officeDocument/2006/relationships/slide" Target="/ppt/slides/slide2.xml" Id="R29d4bcd0bd2349ab" /><Relationship Type="http://schemas.openxmlformats.org/officeDocument/2006/relationships/slide" Target="/ppt/slides/slide3.xml" Id="Re3dcf91b7eca4f23" /><Relationship Type="http://schemas.openxmlformats.org/officeDocument/2006/relationships/slide" Target="/ppt/slides/slide4.xml" Id="R60bceadcee4446ef" /><Relationship Type="http://schemas.openxmlformats.org/officeDocument/2006/relationships/slide" Target="/ppt/slides/slide5.xml" Id="R1483cd5c19f3458d" /><Relationship Type="http://schemas.openxmlformats.org/officeDocument/2006/relationships/slide" Target="/ppt/slides/slide6.xml" Id="Rbfed9013a0c84123" /><Relationship Type="http://schemas.openxmlformats.org/officeDocument/2006/relationships/slide" Target="/ppt/slides/slide7.xml" Id="Rb0521d458a764428" /><Relationship Type="http://schemas.openxmlformats.org/officeDocument/2006/relationships/slide" Target="/ppt/slides/slide8.xml" Id="Rc9562bae2a704b5b" /><Relationship Type="http://schemas.openxmlformats.org/officeDocument/2006/relationships/slide" Target="/ppt/slides/slide9.xml" Id="R7a7bf83d97d846e6" /><Relationship Type="http://schemas.openxmlformats.org/officeDocument/2006/relationships/slide" Target="/ppt/slides/slide10.xml" Id="R60e842d5368f4964" /><Relationship Type="http://schemas.openxmlformats.org/officeDocument/2006/relationships/slide" Target="/ppt/slides/slide11.xml" Id="R2c4c973a147e4854" /><Relationship Type="http://schemas.openxmlformats.org/officeDocument/2006/relationships/slide" Target="/ppt/slides/slide12.xml" Id="R394ba974cbc9489a" /><Relationship Type="http://schemas.openxmlformats.org/officeDocument/2006/relationships/slide" Target="/ppt/slides/slide13.xml" Id="R93a1b29f56e64abc" /><Relationship Type="http://schemas.openxmlformats.org/officeDocument/2006/relationships/slide" Target="/ppt/slides/slide14.xml" Id="R2080c40b83d34407" /><Relationship Type="http://schemas.openxmlformats.org/officeDocument/2006/relationships/slide" Target="/ppt/slides/slide15.xml" Id="R0a3567d571744380" /><Relationship Type="http://schemas.openxmlformats.org/officeDocument/2006/relationships/slide" Target="/ppt/slides/slide16.xml" Id="Reb0209ee7b3048fe" /><Relationship Type="http://schemas.openxmlformats.org/officeDocument/2006/relationships/slide" Target="/ppt/slides/slide17.xml" Id="R601213aab81f4bea" /><Relationship Type="http://schemas.openxmlformats.org/officeDocument/2006/relationships/slide" Target="/ppt/slides/slide18.xml" Id="Rd6980db4e1254d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1f1a460df1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11962e53d346ca" /><Relationship Type="http://schemas.openxmlformats.org/officeDocument/2006/relationships/notesMaster" Target="/ppt/notesMasters/notesMaster1.xml" Id="R0354532011cd4c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f60fef2e5b449f" /><Relationship Type="http://schemas.openxmlformats.org/officeDocument/2006/relationships/notesMaster" Target="/ppt/notesMasters/notesMaster1.xml" Id="R1b3b4630d07a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35b6e393e048e6" /><Relationship Type="http://schemas.openxmlformats.org/officeDocument/2006/relationships/notesMaster" Target="/ppt/notesMasters/notesMaster1.xml" Id="Rc837623af3b242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1f044281334024" /><Relationship Type="http://schemas.openxmlformats.org/officeDocument/2006/relationships/notesMaster" Target="/ppt/notesMasters/notesMaster1.xml" Id="Rc8109ef68096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e1cf1fbc1b488f" /><Relationship Type="http://schemas.openxmlformats.org/officeDocument/2006/relationships/notesMaster" Target="/ppt/notesMasters/notesMaster1.xml" Id="R9fee2c95cd3041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f8c77284104682" /><Relationship Type="http://schemas.openxmlformats.org/officeDocument/2006/relationships/notesMaster" Target="/ppt/notesMasters/notesMaster1.xml" Id="R3a10527d713740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25a9cfefb949a7" /><Relationship Type="http://schemas.openxmlformats.org/officeDocument/2006/relationships/notesMaster" Target="/ppt/notesMasters/notesMaster1.xml" Id="Rc9f3a0e2198d48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bbb2d9523a4df4" /><Relationship Type="http://schemas.openxmlformats.org/officeDocument/2006/relationships/notesMaster" Target="/ppt/notesMasters/notesMaster1.xml" Id="Rf0386958039240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cfa15723ff4fae" /><Relationship Type="http://schemas.openxmlformats.org/officeDocument/2006/relationships/notesMaster" Target="/ppt/notesMasters/notesMaster1.xml" Id="R63b8db35c67747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db6dc9011a4973" /><Relationship Type="http://schemas.openxmlformats.org/officeDocument/2006/relationships/notesMaster" Target="/ppt/notesMasters/notesMaster1.xml" Id="R2eac2418ac104f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aaaacf82cf45cb" /><Relationship Type="http://schemas.openxmlformats.org/officeDocument/2006/relationships/notesMaster" Target="/ppt/notesMasters/notesMaster1.xml" Id="Rf5958e18540a46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86f999d33546dd" /><Relationship Type="http://schemas.openxmlformats.org/officeDocument/2006/relationships/notesMaster" Target="/ppt/notesMasters/notesMaster1.xml" Id="R046c9b6b5d944d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7615125ea146eb" /><Relationship Type="http://schemas.openxmlformats.org/officeDocument/2006/relationships/notesMaster" Target="/ppt/notesMasters/notesMaster1.xml" Id="Rf9ba9007a39d44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a59fee40ea48c6" /><Relationship Type="http://schemas.openxmlformats.org/officeDocument/2006/relationships/notesMaster" Target="/ppt/notesMasters/notesMaster1.xml" Id="Rd80d6403dd3f43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145d4531ac41cd" /><Relationship Type="http://schemas.openxmlformats.org/officeDocument/2006/relationships/notesMaster" Target="/ppt/notesMasters/notesMaster1.xml" Id="Rfc40062ed7324b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d011f923db43bd" /><Relationship Type="http://schemas.openxmlformats.org/officeDocument/2006/relationships/notesMaster" Target="/ppt/notesMasters/notesMaster1.xml" Id="R4096e269bb8d43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50110cb4a44bba" /><Relationship Type="http://schemas.openxmlformats.org/officeDocument/2006/relationships/notesMaster" Target="/ppt/notesMasters/notesMaster1.xml" Id="R164ea2bd971a49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8c7dac6eb8400f" /><Relationship Type="http://schemas.openxmlformats.org/officeDocument/2006/relationships/notesMaster" Target="/ppt/notesMasters/notesMaster1.xml" Id="R0372b1ab746541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프로젝트의 문제의식과 구현 범위를 한 문장으로 소개합니다.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C:/project/lastcall/lastcall-app-sdk54/app.json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C:/project/lastcall/lastcall-app-sdk54/src/components/initial-consent.tsx</a:t>
            </a:r>
          </a:p>
          <a:p xmlns:a="http://schemas.openxmlformats.org/drawingml/2006/main">
            <a:r>
              <a:t>- C:/project/lastcall/lastcall-app-sdk54/src/app/(tabs)/index.tsx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C:/project/lastcall/lastcall-app-sdk54/src/app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C:/project/lastcall/lastcall-app-sdk54/src/components/initial-consent.tsx</a:t>
            </a:r>
          </a:p>
          <a:p xmlns:a="http://schemas.openxmlformats.org/drawingml/2006/main">
            <a:r>
              <a:t>- C:/project/lastcall/lastcall-app-sdk54/src/app/filter.tsx</a:t>
            </a:r>
          </a:p>
          <a:p xmlns:a="http://schemas.openxmlformats.org/drawingml/2006/main">
            <a:r>
              <a:t>- C:/project/lastcall/lastcall-app-sdk54/src/app/hospitals.tsx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C:/project/lastcall/lastcall-app-sdk54/src/app/(tabs)/index.tsx</a:t>
            </a:r>
          </a:p>
          <a:p xmlns:a="http://schemas.openxmlformats.org/drawingml/2006/main">
            <a:r>
              <a:t>- C:/project/lastcall/lastcall-app-sdk54/src/services/location.ts</a:t>
            </a:r>
          </a:p>
          <a:p xmlns:a="http://schemas.openxmlformats.org/drawingml/2006/main">
            <a:r>
              <a:t>- C:/project/lastcall/test-screenshots/home-web.png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C:/project/lastcall/lastcall-app-sdk54/src/app/filter.tsx</a:t>
            </a:r>
          </a:p>
          <a:p xmlns:a="http://schemas.openxmlformats.org/drawingml/2006/main">
            <a:r>
              <a:t>- C:/project/lastcall/lastcall-app-sdk54/src/app/hospitals.tsx</a:t>
            </a:r>
          </a:p>
          <a:p xmlns:a="http://schemas.openxmlformats.org/drawingml/2006/main">
            <a:r>
              <a:t>- C:/project/lastcall/lastcall-server/src/main/java/com/lastcall/controller/EmergencyController.java</a:t>
            </a:r>
          </a:p>
          <a:p xmlns:a="http://schemas.openxmlformats.org/drawingml/2006/main">
            <a:r>
              <a:t>- C:/project/lastcall/lastcall-server/src/main/java/com/lastcall/service/EmergencyService.java</a:t>
            </a:r>
          </a:p>
          <a:p xmlns:a="http://schemas.openxmlformats.org/drawingml/2006/main">
            <a:r>
              <a:t>- C:/project/lastcall/test-screenshots/hospitals-results-web.png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C:/project/lastcall/lastcall-app-sdk54/src/components/map-screen.native.tsx</a:t>
            </a:r>
          </a:p>
          <a:p xmlns:a="http://schemas.openxmlformats.org/drawingml/2006/main">
            <a:r>
              <a:t>- C:/project/lastcall/lastcall-app-sdk54/src/components/map-screen.web.tsx</a:t>
            </a:r>
          </a:p>
          <a:p xmlns:a="http://schemas.openxmlformats.org/drawingml/2006/main">
            <a:r>
              <a:t>- C:/project/lastcall/lastcall-app-sdk54/app.json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C:/project/lastcall/test-screenshots/map-web.png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C:/project/lastcall/lastcall-app-sdk54/src/app/(tabs)/my-info.tsx</a:t>
            </a:r>
          </a:p>
          <a:p xmlns:a="http://schemas.openxmlformats.org/drawingml/2006/main">
            <a:r>
              <a:t>- C:/project/lastcall/lastcall-app-sdk54/src/services/medical-info-storage.ts</a:t>
            </a:r>
          </a:p>
          <a:p xmlns:a="http://schemas.openxmlformats.org/drawingml/2006/main">
            <a:r>
              <a:t>- C:/project/lastcall/lastcall-app-sdk54/src/services/location.ts</a:t>
            </a:r>
          </a:p>
          <a:p xmlns:a="http://schemas.openxmlformats.org/drawingml/2006/main">
            <a:r>
              <a:t>- C:/project/lastcall/test-screenshots/my-info-features-web.png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C:/project/lastcall/lastcall-app-sdk54/src/app/community-board.tsx</a:t>
            </a:r>
          </a:p>
          <a:p xmlns:a="http://schemas.openxmlformats.org/drawingml/2006/main">
            <a:r>
              <a:t>- C:/project/lastcall/lastcall-app-sdk54/src/app/community-detail.tsx</a:t>
            </a:r>
          </a:p>
          <a:p xmlns:a="http://schemas.openxmlformats.org/drawingml/2006/main">
            <a:r>
              <a:t>- C:/project/lastcall/lastcall-app-sdk54/src/app/community-write.tsx</a:t>
            </a:r>
          </a:p>
          <a:p xmlns:a="http://schemas.openxmlformats.org/drawingml/2006/main">
            <a:r>
              <a:t>- C:/project/lastcall/lastcall-app-sdk54/src/services/community-moderation.ts</a:t>
            </a:r>
          </a:p>
          <a:p xmlns:a="http://schemas.openxmlformats.org/drawingml/2006/main">
            <a:r>
              <a:t>- C:/project/lastcall/lastcall-server/src/main/java/com/lastcall/service/CommunityService.java</a:t>
            </a:r>
          </a:p>
          <a:p xmlns:a="http://schemas.openxmlformats.org/drawingml/2006/main">
            <a:r>
              <a:t>- C:/project/lastcall/test-screenshots/community-web.png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C:/project/lastcall/lastcall-app-sdk54/src/app/aed.tsx</a:t>
            </a:r>
          </a:p>
          <a:p xmlns:a="http://schemas.openxmlformats.org/drawingml/2006/main">
            <a:r>
              <a:t>- C:/project/lastcall/lastcall-app-sdk54/src/app/emergency-help.tsx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C:/project/lastcall/test-screenshots/aed-web.png</a:t>
            </a:r>
          </a:p>
          <a:p xmlns:a="http://schemas.openxmlformats.org/drawingml/2006/main">
            <a:r>
              <a:t>- C:/project/lastcall/test-screenshots/emergency-help-web.png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C:/project/lastcall/lastcall-app-sdk54/src/config/api.ts</a:t>
            </a:r>
          </a:p>
          <a:p xmlns:a="http://schemas.openxmlformats.org/drawingml/2006/main">
            <a:r>
              <a:t>- C:/project/lastcall/lastcall-server/src/main/resources/application.yml</a:t>
            </a:r>
          </a:p>
          <a:p xmlns:a="http://schemas.openxmlformats.org/drawingml/2006/main">
            <a:r>
              <a:t>- C:/project/lastcall/ops/nginx/lastcall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C:/project/lastcall/lastcall-server/src/main/java/com/lastcall/service/EmergencyService.java</a:t>
            </a:r>
          </a:p>
          <a:p xmlns:a="http://schemas.openxmlformats.org/drawingml/2006/main">
            <a:r>
              <a:t>- C:/project/lastcall/lastcall-server/src/main/java/com/lastcall/dto/EmergencyDto.java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C:/project/lastcall/lastcall-server/src/main/java/com/lastcall/service/EmergencyService.java</a:t>
            </a:r>
          </a:p>
          <a:p xmlns:a="http://schemas.openxmlformats.org/drawingml/2006/main">
            <a:r>
              <a:t>- C:/project/lastcall/lastcall-server/src/main/java/com/lastcall/controller/EmergencyController.java</a:t>
            </a:r>
          </a:p>
          <a:p xmlns:a="http://schemas.openxmlformats.org/drawingml/2006/main">
            <a:r>
              <a:t>- C:/project/lastcall/lastcall-app-sdk54/src/app/filter.tsx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C:/project/lastcall/lastcall-server/src/main/java/com/lastcall/service/CommunityService.java</a:t>
            </a:r>
          </a:p>
          <a:p xmlns:a="http://schemas.openxmlformats.org/drawingml/2006/main">
            <a:r>
              <a:t>- C:/project/lastcall/lastcall-server/src/main/java/com/lastcall/config/EmergencyRateLimitInterceptor.java</a:t>
            </a:r>
          </a:p>
          <a:p xmlns:a="http://schemas.openxmlformats.org/drawingml/2006/main">
            <a:r>
              <a:t>- C:/project/lastcall/lastcall-server/src/main/java/com/lastcall/config/CommunityRateLimitInterceptor.java</a:t>
            </a:r>
          </a:p>
          <a:p xmlns:a="http://schemas.openxmlformats.org/drawingml/2006/main">
            <a:r>
              <a:t>- C:/project/lastcall/lastcall-server/src/main/resources/application.yml</a:t>
            </a:r>
          </a:p>
          <a:p xmlns:a="http://schemas.openxmlformats.org/drawingml/2006/main">
            <a:r>
              <a:t>- C:/project/lastcall/ops/nginx/lastcall</a:t>
            </a:r>
          </a:p>
          <a:p xmlns:a="http://schemas.openxmlformats.org/drawingml/2006/main">
            <a:r>
              <a:t>- C:/project/lastcall/ops/nginx/lastcall-log.conf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C:/project/lastcall/LOCAL_RUN.md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C:/project/lastcall/lastcall-app-sdk54/eas.json</a:t>
            </a:r>
          </a:p>
          <a:p xmlns:a="http://schemas.openxmlformats.org/drawingml/2006/main">
            <a:r>
              <a:t>- C:/project/lastcall/lastcall-app-sdk54/app.json</a:t>
            </a:r>
          </a:p>
          <a:p xmlns:a="http://schemas.openxmlformats.org/drawingml/2006/main">
            <a:r>
              <a:t>- C:/project/lastcall/ops/nginx/lastcall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C:/project/lastcall/lastcall-server/src/main/java/com/lastcall/controller/ApiExceptionHandler.java</a:t>
            </a:r>
          </a:p>
          <a:p xmlns:a="http://schemas.openxmlformats.org/drawingml/2006/main">
            <a:r>
              <a:t>- C:/project/lastcall/lastcall-server/src/test/java/com/lastcall/controller/ApiExceptionHandlerTests.java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C:/project/lastcall/WORK_PROGRESS.md</a:t>
            </a:r>
          </a:p>
          <a:p xmlns:a="http://schemas.openxmlformats.org/drawingml/2006/main">
            <a:r>
              <a:t>- C:/project/lastcall/lastcall-server/src/test/java</a:t>
            </a:r>
          </a:p>
          <a:p xmlns:a="http://schemas.openxmlformats.org/drawingml/2006/main">
            <a:r>
              <a:t>- C:/project/lastcall/test-screenshots/favorites-web.png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처음 제시한 문제를 어떤 기술과 운영 판단으로 해결했는지 요약하며 마무리합니다.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C:/project/lastcall/README.md</a:t>
            </a:r>
          </a:p>
          <a:p xmlns:a="http://schemas.openxmlformats.org/drawingml/2006/main">
            <a:r>
              <a:t>- C:/project/lastcall/WORK_PROGRESS.md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1d611eebb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0f4782f79e407c" /><Relationship Type="http://schemas.openxmlformats.org/officeDocument/2006/relationships/slideLayout" Target="/ppt/slideLayouts/slideLayout1.xml" Id="R9c07720a3474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7720a3474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f184154634b4c" /><Relationship Type="http://schemas.openxmlformats.org/officeDocument/2006/relationships/image" Target="/ppt/media/image.png" Id="R77d59e04f9424649" /><Relationship Type="http://schemas.openxmlformats.org/officeDocument/2006/relationships/notesSlide" Target="/ppt/notesSlides/notesSlide1.xml" Id="R2c16e8d351924f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30ffdbca14048" /><Relationship Type="http://schemas.openxmlformats.org/officeDocument/2006/relationships/notesSlide" Target="/ppt/notesSlides/notesSlide2.xml" Id="R8c17148def1b44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25de4dc34695" /><Relationship Type="http://schemas.openxmlformats.org/officeDocument/2006/relationships/notesSlide" Target="/ppt/notesSlides/notesSlide3.xml" Id="Rf1f4dbfd3a5c47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b542957ed47de" /><Relationship Type="http://schemas.openxmlformats.org/officeDocument/2006/relationships/notesSlide" Target="/ppt/notesSlides/notesSlide4.xml" Id="R0a008bd7918346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393ccbd0c4174" /><Relationship Type="http://schemas.openxmlformats.org/officeDocument/2006/relationships/image" Target="/ppt/media/image.jpeg" Id="Rdbec8060666c4cc0" /><Relationship Type="http://schemas.openxmlformats.org/officeDocument/2006/relationships/notesSlide" Target="/ppt/notesSlides/notesSlide5.xml" Id="Reea1b5d00db04a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181c023b3425c" /><Relationship Type="http://schemas.openxmlformats.org/officeDocument/2006/relationships/image" Target="/ppt/media/image2.jpeg" Id="R694e9e18cac34cb9" /><Relationship Type="http://schemas.openxmlformats.org/officeDocument/2006/relationships/notesSlide" Target="/ppt/notesSlides/notesSlide6.xml" Id="R77ba05b624cd41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42d3818054899" /><Relationship Type="http://schemas.openxmlformats.org/officeDocument/2006/relationships/image" Target="/ppt/media/image3.jpeg" Id="Ra846c334c62446ab" /><Relationship Type="http://schemas.openxmlformats.org/officeDocument/2006/relationships/notesSlide" Target="/ppt/notesSlides/notesSlide7.xml" Id="Rcd52122e47b24a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ea2cb3a9f40cb" /><Relationship Type="http://schemas.openxmlformats.org/officeDocument/2006/relationships/notesSlide" Target="/ppt/notesSlides/notesSlide8.xml" Id="R0453cdb387f140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4c1f78fa94f8f" /><Relationship Type="http://schemas.openxmlformats.org/officeDocument/2006/relationships/image" Target="/ppt/media/image4.jpeg" Id="Rafc98181020f4162" /><Relationship Type="http://schemas.openxmlformats.org/officeDocument/2006/relationships/notesSlide" Target="/ppt/notesSlides/notesSlide9.xml" Id="R764b411cc0b84c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d52a7fd684946" /><Relationship Type="http://schemas.openxmlformats.org/officeDocument/2006/relationships/image" Target="/ppt/media/image5.jpeg" Id="R4b5b66615b0c4355" /><Relationship Type="http://schemas.openxmlformats.org/officeDocument/2006/relationships/image" Target="/ppt/media/image6.jpeg" Id="Reb343bc8f624451f" /><Relationship Type="http://schemas.openxmlformats.org/officeDocument/2006/relationships/notesSlide" Target="/ppt/notesSlides/notesSlide10.xml" Id="R1927c6c8960644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9022d025645b2" /><Relationship Type="http://schemas.openxmlformats.org/officeDocument/2006/relationships/notesSlide" Target="/ppt/notesSlides/notesSlide11.xml" Id="R88b944551b4f46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754a4b5224c88" /><Relationship Type="http://schemas.openxmlformats.org/officeDocument/2006/relationships/notesSlide" Target="/ppt/notesSlides/notesSlide12.xml" Id="R2abec3e87ee742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01deea15248d9" /><Relationship Type="http://schemas.openxmlformats.org/officeDocument/2006/relationships/notesSlide" Target="/ppt/notesSlides/notesSlide13.xml" Id="Rf7d265ad44634a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ab794aef94eba" /><Relationship Type="http://schemas.openxmlformats.org/officeDocument/2006/relationships/notesSlide" Target="/ppt/notesSlides/notesSlide14.xml" Id="Rd6e075c54ad845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d0d5f73ae41cb" /><Relationship Type="http://schemas.openxmlformats.org/officeDocument/2006/relationships/notesSlide" Target="/ppt/notesSlides/notesSlide15.xml" Id="Rfddc5c9e23e04c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dd90d66044e15" /><Relationship Type="http://schemas.openxmlformats.org/officeDocument/2006/relationships/notesSlide" Target="/ppt/notesSlides/notesSlide16.xml" Id="R1031487e285c40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1a5e84a414c48" /><Relationship Type="http://schemas.openxmlformats.org/officeDocument/2006/relationships/notesSlide" Target="/ppt/notesSlides/notesSlide17.xml" Id="R54e98c7b79e249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b784430354191" /><Relationship Type="http://schemas.openxmlformats.org/officeDocument/2006/relationships/notesSlide" Target="/ppt/notesSlides/notesSlide18.xml" Id="Racd02104906941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46072BA8-BBC4-42C5-AA3D-D940C65B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85DD3D5B-D62E-423F-9678-341803FA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E9D033E-87C1-4752-9E91-8729346D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0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PROJECT PORTFOLIO · 2026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17F7C4-B6B2-4994-8DD4-ECBD146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22033"/>
                </a:solidFill>
              </a:defRPr>
            </a:pPr>
            <a:r>
              <a:rPr sz="4800" b="1">
                <a:solidFill>
                  <a:srgbClr val="122033"/>
                </a:solidFill>
              </a:rPr>
              <a:t>LastCall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3D6598-4C11-4884-8BAC-5AD9567B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294"/>
                </a:solidFill>
              </a:defRPr>
            </a:pPr>
            <a:r>
              <a:rPr sz="2400" b="1">
                <a:solidFill>
                  <a:srgbClr val="758294"/>
                </a:solidFill>
              </a:rPr>
              <a:t>가까운 응급실과 응급 행동을</a:t>
            </a:r>
          </a:p>
          <a:p xmlns:a="http://schemas.openxmlformats.org/drawingml/2006/main">
            <a:pPr algn="l">
              <a:defRPr sz="2400" b="1">
                <a:solidFill>
                  <a:srgbClr val="758294"/>
                </a:solidFill>
              </a:defRPr>
            </a:pPr>
            <a:r>
              <a:rPr sz="2400" b="1">
                <a:solidFill>
                  <a:srgbClr val="758294"/>
                </a:solidFill>
              </a:rPr>
              <a:t>하나의 모바일 흐름으로 연결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57DD46-D0DD-4767-873C-21826971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Expo · Spring Boot · Public Data · Naver Map · AWS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AB22583-2A7E-40F1-BD3A-F96FFCDA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2026.07.21 - 2026.07.31   |   Park Eui Hyeok</a:t>
            </a:r>
          </a:p>
        </p:txBody>
      </p:sp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D5CB329B-B875-4E36-A583-E2BD07B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47825"/>
            <a:ext cx="21336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59e04f9424649"/>
          <a:stretch xmlns:a="http://schemas.openxmlformats.org/drawingml/2006/main"/>
        </p:blipFill>
        <p:spPr>
          <a:xfrm xmlns:a="http://schemas.openxmlformats.org/drawingml/2006/main">
            <a:off x="8382000" y="1666875"/>
            <a:ext cx="2095500" cy="2095500"/>
          </a:xfrm>
          <a:prstGeom xmlns:a="http://schemas.openxmlformats.org/drawingml/2006/main" prst="roundRect">
            <a:avLst>
              <a:gd name="adj" fmla="val 6364"/>
            </a:avLst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906AB1-1607-49C8-A2E1-0BAC4360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</a:defRPr>
            </a:pPr>
            <a:r>
              <a:rPr sz="1425" b="1">
                <a:solidFill>
                  <a:srgbClr val="122033"/>
                </a:solidFill>
              </a:rPr>
              <a:t>응급의료 정보 탐색 · 긴급 공유 · 커뮤니티 운영</a:t>
            </a:r>
          </a:p>
        </p:txBody>
      </p:sp>
    </p:spTree>
    <p:extLst>
      <p:ext uri="{BB962C8B-B14F-4D97-AF65-F5344CB8AC3E}">
        <p14:creationId xmlns:p14="http://schemas.microsoft.com/office/powerpoint/2010/main" val="1499210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accent">
            <a:extLst xmlns:a="http://schemas.openxmlformats.org/drawingml/2006/main">
              <a:ext uri="{FF2B5EF4-FFF2-40B4-BE49-F238E27FC236}">
                <a16:creationId xmlns:a16="http://schemas.microsoft.com/office/drawing/2014/main" id="{FCE5AE93-1698-4888-882D-A960C6EF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F7721CB-2383-44C8-8A0D-9A388D65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01 · PROBLEM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BEEF35-DFAE-45A5-9F9A-B05AEE46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응급 상황에서는 ‘정보량’보다 다음 행동이 중요했습니다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FEC3407-D44F-4671-8862-4A12F33F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02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A3F3926-15D8-4856-B614-BD618E62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E5E9940-C485-4EB3-B039-949823E7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사용자가 실제로 겪는 마찰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1CF297F-BB0F-4FDE-B62A-7BB4F348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3E6"/>
                </a:solidFill>
              </a:defRPr>
            </a:pPr>
            <a:r>
              <a:rPr sz="1800" b="1">
                <a:solidFill>
                  <a:srgbClr val="1463E6"/>
                </a:solidFill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79CFD46-FEB0-4049-8A48-E9F9274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33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어디로 가야 하는가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BC9F38-5801-461F-A3EC-B2E2B62E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현재 위치, 진료 조건, 병상 정보를 따로 확인해야 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D72BB-F523-4843-B8A9-70F2841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653AD1B-F53C-47E1-837F-D8244172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3E6"/>
                </a:solidFill>
              </a:defRPr>
            </a:pPr>
            <a:r>
              <a:rPr sz="1800" b="1">
                <a:solidFill>
                  <a:srgbClr val="1463E6"/>
                </a:solidFill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40C40D1-432C-4165-807D-77243C31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정보를 믿어도 되는가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E739B5A-38CB-4B39-AAFF-BAFCC5D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공공데이터 갱신 시각과 실제 수용 여부 사이의 간극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2838E-2C8F-4E02-8CC1-0B762BA5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096418E-80FC-496E-B23C-757B549D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3E6"/>
                </a:solidFill>
              </a:defRPr>
            </a:pPr>
            <a:r>
              <a:rPr sz="1800" b="1">
                <a:solidFill>
                  <a:srgbClr val="1463E6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D55F836-178F-422D-9277-EC49755C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29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바로 연락할 수 있는가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04ABD3D-CFB4-4175-90DF-7DDF6240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119·응급실·보호자 연락과 위치 공유가 분절됨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DE78E-8D57-4D0A-AFE7-F127C966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310D09B1-CF00-487C-9E04-12036485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1495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D6516C5-7965-4845-B6CE-007F3B70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A6C9"/>
                </a:solidFill>
              </a:defRPr>
            </a:pPr>
            <a:r>
              <a:rPr sz="1050" b="1">
                <a:solidFill>
                  <a:srgbClr val="0AA6C9"/>
                </a:solidFill>
              </a:rPr>
              <a:t>DESIGN PRINCIPLE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FCEC861-362B-43F1-9A99-42E1DFBF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검색보다 먼저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응급 행동을 안내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C06C8-F941-414C-8379-E6DD80D5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C5068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506B750-9E50-4635-B493-848A8F9E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3116E00-7EA8-432A-8478-9EB35328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2DE"/>
                </a:solidFill>
              </a:defRPr>
            </a:pPr>
            <a:r>
              <a:rPr sz="1350" b="0">
                <a:solidFill>
                  <a:srgbClr val="C7D2DE"/>
                </a:solidFill>
              </a:rPr>
              <a:t>119 우선 안내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82CB344-23C3-40C2-B225-D020EDF5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14C009B-D2BA-4E3D-8CD4-402CEC47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29125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2DE"/>
                </a:solidFill>
              </a:defRPr>
            </a:pPr>
            <a:r>
              <a:rPr sz="1350" b="0">
                <a:solidFill>
                  <a:srgbClr val="C7D2DE"/>
                </a:solidFill>
              </a:rPr>
              <a:t>전화 확인을 유도하는 보수적 표현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287024D-65CC-4E93-807D-3A681D75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1D00A3F-AD5D-4E65-BEDF-7E6490A7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2DE"/>
                </a:solidFill>
              </a:defRPr>
            </a:pPr>
            <a:r>
              <a:rPr sz="1350" b="0">
                <a:solidFill>
                  <a:srgbClr val="C7D2DE"/>
                </a:solidFill>
              </a:rPr>
              <a:t>위치 권한 거부 시 직접 검색 제공</a:t>
            </a:r>
          </a:p>
        </p:txBody>
      </p:sp>
    </p:spTree>
    <p:extLst>
      <p:ext uri="{BB962C8B-B14F-4D97-AF65-F5344CB8AC3E}">
        <p14:creationId xmlns:p14="http://schemas.microsoft.com/office/powerpoint/2010/main" val="1732036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accent">
            <a:extLst xmlns:a="http://schemas.openxmlformats.org/drawingml/2006/main">
              <a:ext uri="{FF2B5EF4-FFF2-40B4-BE49-F238E27FC236}">
                <a16:creationId xmlns:a16="http://schemas.microsoft.com/office/drawing/2014/main" id="{76528A7B-A609-447F-ADF2-55D3E301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272A645-98A0-453E-BEDA-F95A0850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02 · SOLUTION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FA24FD-15F0-4AB7-AD26-DF8D9232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탐색·행동·기록·운영을 하나의 제품 범위로 묶었습니다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7FB78B2-EDFE-44A6-BE13-1FD68E09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03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47A0B4B-09A7-4D04-9257-3CF8B130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5E3C2C9-12BA-42A0-9119-72DA1D9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3429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3F2046-8F83-4687-851B-33E8DFE7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CE6713-10F1-4469-8000-FB08C0B6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응급실 탐색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251223-FF26-4AFD-AE61-72F78785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8F9ED3-BF74-4C5E-B220-C3040A2B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위치·지역·전국 검색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4E91AA-23E1-49A7-8747-0E3E5A41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F89B816-4C1B-4A0D-9D2A-A0AB44CA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증상·병상·장비 필터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FBD2DA-3CDC-455B-A534-2BBC48D3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29537F4-3D9C-4D30-AD1F-0953C786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거리·추천 점수 정렬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9A87E826-740B-4D89-A4C6-138538C7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381250" cy="3429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631EF82-F73E-4F5A-AE72-888CE8E9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BF140A4-3AED-4A18-AB44-0B4E6C6E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즉시 행동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67B9AE-14AE-40D8-A7E5-4A9D7C8C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0C3C1A-AE53-40C2-A5BD-43AC1BE6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119·병원·보호자 전화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5F67062-E189-410C-85CF-624C0C4C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65CF136-18F1-4E28-9463-3D802F19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지도·현재 위치 공유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F757C5F-D7E0-4EB4-A60A-77265781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43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1B45110-6324-4995-ABFA-755AEEAF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4340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의료정보 긴급 전달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4D402980-6855-4871-9DB6-481857B5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381250" cy="3429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DC3FFA9-30D1-4AE6-AC7E-96661DA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03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6EDE697-E1A4-4D03-828C-FDA1B872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개인 안전 기록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745E15E-8655-4F3C-876C-AAC10F3A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E0A4820-ADF1-4D3D-8614-BB2FCDC5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즐겨찾기·최근 본 5곳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F1B6C40-F1DC-4C61-B549-AB17610F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8248F68-17FF-4678-9BE3-0A7EECE0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SecureStore 의료정보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1AA45AD-B1DF-4286-89A4-B570D4E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C8EC023-E3CB-4D59-9802-E19EAF05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오프라인 응급 안내</a:t>
            </a:r>
          </a:p>
        </p:txBody>
      </p:sp>
      <p:sp>
        <p:nvSpPr>
          <p:cNvPr id="33" name="shape">
            <a:extLst xmlns:a="http://schemas.openxmlformats.org/drawingml/2006/main">
              <a:ext uri="{FF2B5EF4-FFF2-40B4-BE49-F238E27FC236}">
                <a16:creationId xmlns:a16="http://schemas.microsoft.com/office/drawing/2014/main" id="{BF0CE075-B430-4ACC-8BBC-98B8211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52625"/>
            <a:ext cx="2381250" cy="3429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8925A1D-6C4D-4391-A0F3-E5A06BC4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71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04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E814FCB-0013-4BB9-8411-58A978A9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커뮤니티 운영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3100EC4-C2DA-42BD-98F3-5D615C4E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75B1BE3-F9B2-43C2-8F51-D25BA69C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게시글·댓글·좋아요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51CA9C0-6D4A-400E-9278-0530F9D7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D459B51-779B-4CDA-9AD2-6DA60560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신고·숨김·정책 동의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4E72AFC5-3E87-47F0-B123-F3B4BB76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1AB7DCC-01E3-4105-87F3-B42BD3E0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4340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관리자 세션·처리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E2CA024E-1645-4311-9803-58BE514D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현재 구현 상태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BF1CF80D-15C2-4386-BEA2-3D79DD8E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95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Android 테스트 APK v1.0.0-rc4 · Google Play 정식 출시는 별도 단계</a:t>
            </a:r>
          </a:p>
        </p:txBody>
      </p:sp>
    </p:spTree>
    <p:extLst>
      <p:ext uri="{BB962C8B-B14F-4D97-AF65-F5344CB8AC3E}">
        <p14:creationId xmlns:p14="http://schemas.microsoft.com/office/powerpoint/2010/main" val="2113048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accent">
            <a:extLst xmlns:a="http://schemas.openxmlformats.org/drawingml/2006/main">
              <a:ext uri="{FF2B5EF4-FFF2-40B4-BE49-F238E27FC236}">
                <a16:creationId xmlns:a16="http://schemas.microsoft.com/office/drawing/2014/main" id="{CA5A8F97-C529-43C3-A57B-7FE2E59E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ECAA6A2-2BC8-4AC7-A637-37B52B3A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03 · EXPERIENCE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FED8FB-3227-492E-8699-2C825B5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사용자 흐름은 발견에서 연결까지 5단계로 단순화했습니다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E626E39-DE5B-486D-AC7A-03651EC4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04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4949C43-1444-4197-BD09-03FF5003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journey-arrow">
            <a:extLst xmlns:a="http://schemas.openxmlformats.org/drawingml/2006/main">
              <a:ext uri="{FF2B5EF4-FFF2-40B4-BE49-F238E27FC236}">
                <a16:creationId xmlns:a16="http://schemas.microsoft.com/office/drawing/2014/main" id="{62E90056-AC63-46D6-86F0-20AB559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4800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arrow">
            <a:extLst xmlns:a="http://schemas.openxmlformats.org/drawingml/2006/main">
              <a:ext uri="{FF2B5EF4-FFF2-40B4-BE49-F238E27FC236}">
                <a16:creationId xmlns:a16="http://schemas.microsoft.com/office/drawing/2014/main" id="{F1EC1DDF-7F1D-4B2D-9684-2A09EF4C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4800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arrow">
            <a:extLst xmlns:a="http://schemas.openxmlformats.org/drawingml/2006/main">
              <a:ext uri="{FF2B5EF4-FFF2-40B4-BE49-F238E27FC236}">
                <a16:creationId xmlns:a16="http://schemas.microsoft.com/office/drawing/2014/main" id="{8C6A2EA1-DCC6-4B38-8700-D6831A5C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4800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arrow">
            <a:extLst xmlns:a="http://schemas.openxmlformats.org/drawingml/2006/main">
              <a:ext uri="{FF2B5EF4-FFF2-40B4-BE49-F238E27FC236}">
                <a16:creationId xmlns:a16="http://schemas.microsoft.com/office/drawing/2014/main" id="{B8A6156A-6603-4C06-A1E3-003D7001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76C83981-D2EA-441B-B912-E9CBA574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9465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C9BF66-7F57-43F7-985E-D241B23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94657"/>
                </a:solidFill>
              </a:defRPr>
            </a:pPr>
            <a:r>
              <a:rPr sz="1200" b="1">
                <a:solidFill>
                  <a:srgbClr val="E94657"/>
                </a:solidFill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807A54-6C6A-4219-B769-2655CA7B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위급 증상</a:t>
            </a:r>
          </a:p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확인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155F3346-593F-44DF-97D3-FB48D43C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C46AE0D-DCC4-4107-8111-42B4557B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2CC509F-3577-4639-BD50-1C8DBA5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위치·지역</a:t>
            </a:r>
          </a:p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선택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DD3DEDD0-EB88-458E-BC16-5DD0F3AA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37E26D4-F42F-4DE8-AD3B-F5E691FB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D7010CD-F4D3-4EC3-819E-94B641E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037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조건 기반</a:t>
            </a:r>
          </a:p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검색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E128172E-8663-4020-8518-24DEA7C4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3FC1D19-456E-4A56-AF68-0E2586A7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11E62B0-CFF6-4EDC-85C4-ED2A61B9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0037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병원 비교·</a:t>
            </a:r>
          </a:p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상세 확인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D8AA736B-ACEF-4A31-8974-497EEAD4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BD682E5-96CE-4DAE-87D7-5C46206D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05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F976AD0-92FF-4654-8339-D315C138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037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전화·지도·</a:t>
            </a:r>
          </a:p>
          <a:p xmlns:a="http://schemas.openxmlformats.org/drawingml/2006/main">
            <a:pPr algn="ctr">
              <a:defRPr sz="1575" b="1">
                <a:solidFill>
                  <a:srgbClr val="122033"/>
                </a:solidFill>
              </a:defRPr>
            </a:pPr>
            <a:r>
              <a:rPr sz="1575" b="1">
                <a:solidFill>
                  <a:srgbClr val="122033"/>
                </a:solidFill>
              </a:rPr>
              <a:t>정보 공유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A51DF157-D599-46FE-AD34-D49FEA59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FA80DAE-6F94-4CC4-9D3A-CEA7815E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A6C9"/>
                </a:solidFill>
              </a:defRPr>
            </a:pPr>
            <a:r>
              <a:rPr sz="1050" b="1">
                <a:solidFill>
                  <a:srgbClr val="0AA6C9"/>
                </a:solidFill>
              </a:rPr>
              <a:t>FAIL-SAFE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947FC2B-748B-4532-858D-38D4247B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위치를 허용하지 않아도 지역 직접 검색으로 계속 진행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44096E4-8009-46C2-BDC6-E66E6023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3DF"/>
                </a:solidFill>
              </a:defRPr>
            </a:pPr>
            <a:r>
              <a:rPr sz="1200" b="0">
                <a:solidFill>
                  <a:srgbClr val="C8D3DF"/>
                </a:solidFill>
              </a:rPr>
              <a:t>병상 수는 ‘수용 가능’이 아닌 ‘병상 있음’으로 표시하고, 출발 전 전화 확인을 반복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709534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DCC364A-C103-4863-8723-CFC64CB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35235E5-6095-4928-965D-81C40D4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04 · UX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8781C7-93A3-49C8-8987-BD255A69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홈 화면은 119와 위치 확인을 검색보다 앞에 배치했습니다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AC190D6-6BE7-4D45-B4D2-D65230F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05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91D35B6-EE8F-4666-87B6-428DD703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image-frame">
            <a:extLst xmlns:a="http://schemas.openxmlformats.org/drawingml/2006/main">
              <a:ext uri="{FF2B5EF4-FFF2-40B4-BE49-F238E27FC236}">
                <a16:creationId xmlns:a16="http://schemas.microsoft.com/office/drawing/2014/main" id="{57E2BE0B-0124-49C3-BBFA-7E764B4F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89585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c8060666c4cc0"/>
          <a:stretch xmlns:a="http://schemas.openxmlformats.org/drawingml/2006/main"/>
        </p:blipFill>
        <p:spPr>
          <a:xfrm xmlns:a="http://schemas.openxmlformats.org/drawingml/2006/main">
            <a:off x="2124368" y="1714500"/>
            <a:ext cx="1980613" cy="4286250"/>
          </a:xfrm>
          <a:prstGeom xmlns:a="http://schemas.openxmlformats.org/drawingml/2006/main" prst="roundRect">
            <a:avLst>
              <a:gd name="adj" fmla="val 3111"/>
            </a:avLst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33974B2-F1D9-4190-8A81-D027822B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우선순위 설계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C8531C-E2BF-4701-A62D-5755BCF4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EEEAF7-4851-43D2-804A-7965B80B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위급 증상과 119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E7EC16-EC6B-4ECC-9F5D-C03E61AE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검색 전 긴급 행동을 먼저 노출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36D44D-5A73-40D2-AB48-C211AF38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8A3878-1970-447D-8F56-E6C601C6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현재 위치·공유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A7F2CE1-807D-431E-8290-299C813F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사용자가 눌렀을 때만 권한 요청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F1E652C-862F-4FAE-82A3-CA18E732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82E647-4517-4341-BD3F-E04B2AA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증상·지역 검색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21F3354-CC07-44F5-9415-528C3086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57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증상 토글과 전국 키워드 검색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756286D-F001-4232-9595-E87CBC08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D50946-9A2A-408A-A02C-6303D67F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공공데이터 출처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CE608C3-B644-47DE-805A-4802AEB7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제공기관과 정보 한계를 화면에 명시</a:t>
            </a:r>
          </a:p>
        </p:txBody>
      </p:sp>
    </p:spTree>
    <p:extLst>
      <p:ext uri="{BB962C8B-B14F-4D97-AF65-F5344CB8AC3E}">
        <p14:creationId xmlns:p14="http://schemas.microsoft.com/office/powerpoint/2010/main" val="1447002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">
            <a:extLst xmlns:a="http://schemas.openxmlformats.org/drawingml/2006/main">
              <a:ext uri="{FF2B5EF4-FFF2-40B4-BE49-F238E27FC236}">
                <a16:creationId xmlns:a16="http://schemas.microsoft.com/office/drawing/2014/main" id="{50C6E999-53FF-4711-B424-B38798BD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03D088F-ADB2-4A52-9E95-E9F2DB69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05 · SEARCH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F3F7ED-8C89-40F5-BFD2-7373E6E0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검색 조건은 앱 요청부터 서버 필터까지 동일하게 연결했습니다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C3B6174-C255-4242-A4ED-5544C6B4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06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9F25704-49FC-4973-9632-ED89388D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image-frame">
            <a:extLst xmlns:a="http://schemas.openxmlformats.org/drawingml/2006/main">
              <a:ext uri="{FF2B5EF4-FFF2-40B4-BE49-F238E27FC236}">
                <a16:creationId xmlns:a16="http://schemas.microsoft.com/office/drawing/2014/main" id="{0232357B-4059-4C6B-A09D-32558959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610100" cy="4371975"/>
          </a:xfrm>
          <a:prstGeom xmlns:a="http://schemas.openxmlformats.org/drawingml/2006/main" prst="roundRect">
            <a:avLst>
              <a:gd name="adj" fmla="val 34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e9e18cac34cb9"/>
          <a:stretch xmlns:a="http://schemas.openxmlformats.org/drawingml/2006/main"/>
        </p:blipFill>
        <p:spPr>
          <a:xfrm xmlns:a="http://schemas.openxmlformats.org/drawingml/2006/main">
            <a:off x="1970490" y="1714500"/>
            <a:ext cx="2002620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B704FD-D7BD-4ECE-8F5E-3B2FB5EA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지원 조건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B7D329-00DF-4A97-B149-7579F6C5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정렬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C0A16EE-3FE8-4420-80EA-DC40E1C7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거리 · 응급실 병상 · ICU · 수술실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739C3-ACD8-494C-98CB-4FA3E373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527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8D8408-47D1-40F5-89FA-60162F4C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진료과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CDE009-9B0A-473C-B886-683CBD5C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소아청소년과 · 내과 · 외과 · 신경과 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8A0CD-CA84-417D-988F-AD1F7984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194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88BCBB-7855-4358-A42B-EE4E9FAB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0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병상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F7A9BCF-A10D-4365-8A17-CD6EB3B9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응급실 · 중환자실 · 신생아 · 입원실 · 수술실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BCD27-D451-4EC8-89AD-186D825E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55F89D4-9D10-4804-AA3F-6DD99807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장비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F9EF9DF-2234-445A-B1B1-DE321492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CT · MRI · 조영촬영 · 인공호흡기 · 인큐베이터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F2ED7-C647-4A10-912E-73B72FC5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529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3CE50E3-5541-4508-9C5F-8035212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중증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5D36FDA-5E8B-4574-A150-6F057863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뇌출혈 · 심근경색 · 응급투석 · 중증화상 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59A3C-3506-44DB-9A46-4FFD072A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97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E7A407A6-CDF7-44F9-A915-80FA4C92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67375"/>
            <a:ext cx="495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E5F68AE-893C-4A70-B587-C5C4F636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34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033"/>
                </a:solidFill>
              </a:defRPr>
            </a:pPr>
            <a:r>
              <a:rPr sz="1125" b="1">
                <a:solidFill>
                  <a:srgbClr val="122033"/>
                </a:solidFill>
              </a:rPr>
              <a:t>symptom · department · bedTypes · facilities · severeTypes</a:t>
            </a:r>
          </a:p>
        </p:txBody>
      </p:sp>
    </p:spTree>
    <p:extLst>
      <p:ext uri="{BB962C8B-B14F-4D97-AF65-F5344CB8AC3E}">
        <p14:creationId xmlns:p14="http://schemas.microsoft.com/office/powerpoint/2010/main" val="283714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87D65F9-D0D7-4F71-9C9E-7ABEB3AF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48A97DE-6D4A-4A46-BA8C-694AF718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06 · NATIVE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48D0EE-B493-4E4B-92BA-99CBA95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네이버 지도와 목록을 결합해 ‘보기’에서 ‘연락’으로 이어집니다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DDCF077-9AA5-4B8D-9324-227E3E54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07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0F7CBFA-98EC-4EC5-800A-CC11CAB1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641A906-C164-45E8-AF8C-8DA7CC6B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Android 네이티브 지도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47BC4F-60BE-492B-AFDF-E3B3ED37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현재 위치와 응급실 마커를 표시하고, 마커·목록에서 상세 화면으로 이동합니다.</a:t>
            </a:r>
          </a:p>
        </p:txBody>
      </p:sp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E2E7B2DD-3EF9-4410-9EB9-56B6375A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2291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6c334c62446ab"/>
          <a:stretch xmlns:a="http://schemas.openxmlformats.org/drawingml/2006/main"/>
        </p:blipFill>
        <p:spPr>
          <a:xfrm xmlns:a="http://schemas.openxmlformats.org/drawingml/2006/main">
            <a:off x="2165109" y="3048000"/>
            <a:ext cx="1232382" cy="2667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30113D-0D9A-49C6-8E8A-E5DE36BC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지도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8DEBEC9-244D-4F21-9DE9-82FF4EDB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</a:defRPr>
            </a:pPr>
            <a:r>
              <a:rPr sz="1425" b="1">
                <a:solidFill>
                  <a:srgbClr val="122033"/>
                </a:solidFill>
              </a:rPr>
              <a:t>Naver Dynamic Map · 병상 상태별 마커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9AD17-BCD7-4D1C-A413-39F554A1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563E6EA-2B4C-4F34-A5B6-F52D824B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연결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9873A98-F8FE-49BD-83C9-F80B49E1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003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33"/>
                </a:solidFill>
              </a:defRPr>
            </a:pPr>
            <a:r>
              <a:rPr sz="1425" b="0">
                <a:solidFill>
                  <a:srgbClr val="122033"/>
                </a:solidFill>
              </a:rPr>
              <a:t>병원 상세 · 외부 지도 앱 · 응급실 전화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65B3A-3000-4891-8249-F680B0E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48875B5-FF61-4A0A-9BDA-8F89A8B4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0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안전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02B1C5-E364-4BCA-91BD-8EFDE34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909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33"/>
                </a:solidFill>
              </a:defRPr>
            </a:pPr>
            <a:r>
              <a:rPr sz="1425" b="0">
                <a:solidFill>
                  <a:srgbClr val="122033"/>
                </a:solidFill>
              </a:rPr>
              <a:t>내장 지도 미설정 시 크래시 대신 안전한 목록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3975F-AE7D-46C2-BEC6-387960D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7275452-40C7-4DC8-A978-BCBAB64A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웹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336132D-6079-4E25-AFA5-55DCC15C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815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33"/>
                </a:solidFill>
              </a:defRPr>
            </a:pPr>
            <a:r>
              <a:rPr sz="1425" b="0">
                <a:solidFill>
                  <a:srgbClr val="122033"/>
                </a:solidFill>
              </a:rPr>
              <a:t>네이티브 모듈 미지원 안내와 검색 화면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1F064-7FAE-4ED8-814A-CEF929D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673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5467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accent">
            <a:extLst xmlns:a="http://schemas.openxmlformats.org/drawingml/2006/main">
              <a:ext uri="{FF2B5EF4-FFF2-40B4-BE49-F238E27FC236}">
                <a16:creationId xmlns:a16="http://schemas.microsoft.com/office/drawing/2014/main" id="{B2595E68-BC6C-4B20-82BD-507FF80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5E54707-C516-450B-82CE-C954125C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07 · PERSONAL SAFETY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BE6AAC-BAB7-41D3-9A43-E19FF997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의료정보는 기기에 보안 저장하고 사용자가 직접 공유합니다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2939802-1C75-48F7-965E-C0ADEB6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08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D3A1649-8C6D-422C-AE9F-718C69FD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secure-flow-frame">
            <a:extLst xmlns:a="http://schemas.openxmlformats.org/drawingml/2006/main">
              <a:ext uri="{FF2B5EF4-FFF2-40B4-BE49-F238E27FC236}">
                <a16:creationId xmlns:a16="http://schemas.microsoft.com/office/drawing/2014/main" id="{89EA83C3-ED6B-498C-862E-C5EE037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4000500" cy="447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E860A0-7D4C-4CA3-A2D2-88EBBA4F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526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E6"/>
                </a:solidFill>
              </a:defRPr>
            </a:pPr>
            <a:r>
              <a:rPr sz="1050" b="1">
                <a:solidFill>
                  <a:srgbClr val="1463E6"/>
                </a:solidFill>
              </a:rPr>
              <a:t>DEVICE-ONLY DATA FLOW</a:t>
            </a:r>
          </a:p>
        </p:txBody>
      </p:sp>
      <p:sp>
        <p:nvSpPr>
          <p:cNvPr id="8" name="secure-arrow-1">
            <a:extLst xmlns:a="http://schemas.openxmlformats.org/drawingml/2006/main">
              <a:ext uri="{FF2B5EF4-FFF2-40B4-BE49-F238E27FC236}">
                <a16:creationId xmlns:a16="http://schemas.microsoft.com/office/drawing/2014/main" id="{EEA4D111-BD48-48F3-B53E-8125D36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4381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cure-arrow-2">
            <a:extLst xmlns:a="http://schemas.openxmlformats.org/drawingml/2006/main">
              <a:ext uri="{FF2B5EF4-FFF2-40B4-BE49-F238E27FC236}">
                <a16:creationId xmlns:a16="http://schemas.microsoft.com/office/drawing/2014/main" id="{F3E42819-674F-4AFC-A399-A883B80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4381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dical-input">
            <a:extLst xmlns:a="http://schemas.openxmlformats.org/drawingml/2006/main">
              <a:ext uri="{FF2B5EF4-FFF2-40B4-BE49-F238E27FC236}">
                <a16:creationId xmlns:a16="http://schemas.microsoft.com/office/drawing/2014/main" id="{77149349-E88C-4FC1-8C36-019A27D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266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98B7060-4266-4529-9A43-50B5DA6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479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</a:defRPr>
            </a:pPr>
            <a:r>
              <a:rPr sz="1425" b="1">
                <a:solidFill>
                  <a:srgbClr val="122033"/>
                </a:solidFill>
              </a:rPr>
              <a:t>사용자 의료정보 입력</a:t>
            </a:r>
          </a:p>
        </p:txBody>
      </p:sp>
      <p:sp>
        <p:nvSpPr>
          <p:cNvPr id="12" name="secure-store">
            <a:extLst xmlns:a="http://schemas.openxmlformats.org/drawingml/2006/main">
              <a:ext uri="{FF2B5EF4-FFF2-40B4-BE49-F238E27FC236}">
                <a16:creationId xmlns:a16="http://schemas.microsoft.com/office/drawing/2014/main" id="{FAE47580-C269-4394-937C-7C0FA28A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EFEEFA4-5C3E-40A8-BAF2-476154D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43275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SecureStore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WHEN_UNLOCKED_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THIS_DEVICE_ONLY</a:t>
            </a:r>
          </a:p>
        </p:txBody>
      </p:sp>
      <p:sp>
        <p:nvSpPr>
          <p:cNvPr id="14" name="share-action">
            <a:extLst xmlns:a="http://schemas.openxmlformats.org/drawingml/2006/main">
              <a:ext uri="{FF2B5EF4-FFF2-40B4-BE49-F238E27FC236}">
                <a16:creationId xmlns:a16="http://schemas.microsoft.com/office/drawing/2014/main" id="{8DC5BD9D-E061-40D2-9C51-EBACB76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35995B1-0079-4D55-A0FA-60786E1D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006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033"/>
                </a:solidFill>
              </a:defRPr>
            </a:pPr>
            <a:r>
              <a:rPr sz="1200" b="1">
                <a:solidFill>
                  <a:srgbClr val="122033"/>
                </a:solidFill>
              </a:rPr>
              <a:t>OS 공유</a:t>
            </a:r>
          </a:p>
          <a:p xmlns:a="http://schemas.openxmlformats.org/drawingml/2006/main">
            <a:pPr algn="ctr">
              <a:defRPr sz="1200" b="1">
                <a:solidFill>
                  <a:srgbClr val="122033"/>
                </a:solidFill>
              </a:defRPr>
            </a:pPr>
            <a:r>
              <a:rPr sz="1200" b="1">
                <a:solidFill>
                  <a:srgbClr val="122033"/>
                </a:solidFill>
              </a:rPr>
              <a:t>위치 포함 선택</a:t>
            </a:r>
          </a:p>
        </p:txBody>
      </p:sp>
      <p:sp>
        <p:nvSpPr>
          <p:cNvPr id="16" name="call-action">
            <a:extLst xmlns:a="http://schemas.openxmlformats.org/drawingml/2006/main">
              <a:ext uri="{FF2B5EF4-FFF2-40B4-BE49-F238E27FC236}">
                <a16:creationId xmlns:a16="http://schemas.microsoft.com/office/drawing/2014/main" id="{13D50469-F071-44CE-B98B-EA903EB7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1C32879-B160-4054-8AD3-1CD40642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006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033"/>
                </a:solidFill>
              </a:defRPr>
            </a:pPr>
            <a:r>
              <a:rPr sz="1200" b="1">
                <a:solidFill>
                  <a:srgbClr val="122033"/>
                </a:solidFill>
              </a:rPr>
              <a:t>보호자·119</a:t>
            </a:r>
          </a:p>
          <a:p xmlns:a="http://schemas.openxmlformats.org/drawingml/2006/main">
            <a:pPr algn="ctr">
              <a:defRPr sz="1200" b="1">
                <a:solidFill>
                  <a:srgbClr val="122033"/>
                </a:solidFill>
              </a:defRPr>
            </a:pPr>
            <a:r>
              <a:rPr sz="1200" b="1">
                <a:solidFill>
                  <a:srgbClr val="122033"/>
                </a:solidFill>
              </a:rPr>
              <a:t>전화 / 문자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4FA7564-7031-42C7-888B-53974032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민감정보 처리 원칙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720C7CF-AA73-4C37-B507-DD17BA0C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저장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7326D66-1AAA-489E-8021-157AB311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812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SecureStore + 기기 잠금 해제 후 접근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A8EFB-59AB-48BE-9E03-9DE23F7D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147381C-86E5-4BF3-A4E5-8D8E33B0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마이그레이션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58001D0-ABFE-4EBB-85E4-12C929D6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385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기존 AsyncStorage 값을 보안 저장소로 이전 후 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45036-E61B-4306-BDC2-4918D0E2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569FBCF-2AE9-4640-A79B-F9EDF258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공유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3A6FD9F-DD52-4809-90FC-564F18D8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의료정보 단독 또는 현재 위치와 함께 OS 공유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E72B20-D6E9-40EA-8014-68F0727D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0A5D5BE-389E-4137-8642-CAFA0DE0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연락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8A358DE-CC44-4755-9D82-E45D46F9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530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보호자 전화·문자, 119 전화로 즉시 연결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E7FF59-768F-4FAE-BF52-3F3FD39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1" name="shape">
            <a:extLst xmlns:a="http://schemas.openxmlformats.org/drawingml/2006/main">
              <a:ext uri="{FF2B5EF4-FFF2-40B4-BE49-F238E27FC236}">
                <a16:creationId xmlns:a16="http://schemas.microsoft.com/office/drawing/2014/main" id="{E548EE55-5E47-446E-BA55-B0CBDF6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14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5820676-8030-4DEF-9E5F-22794706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58A13"/>
                </a:solidFill>
              </a:defRPr>
            </a:pPr>
            <a:r>
              <a:rPr sz="1200" b="1">
                <a:solidFill>
                  <a:srgbClr val="E58A13"/>
                </a:solidFill>
              </a:rPr>
              <a:t>서버 DB에 의료정보를 저장하지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509792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D0B66F-2F0F-4AB2-AC58-A471F12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BC06A60-8324-4C2F-95A9-DABB86BF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08 · COMMUNITY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659F10-5CD3-4F04-8F5D-2C87F868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UGC 기능은 작성 기능과 운영 안전장치를 함께 구현했습니다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DF71BEC-5038-4450-9927-26C819D7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09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FAEDFA9-3BEB-4FB6-B311-A268AB73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image-frame">
            <a:extLst xmlns:a="http://schemas.openxmlformats.org/drawingml/2006/main">
              <a:ext uri="{FF2B5EF4-FFF2-40B4-BE49-F238E27FC236}">
                <a16:creationId xmlns:a16="http://schemas.microsoft.com/office/drawing/2014/main" id="{C687F3A7-F00C-4F0A-8473-9B2961B0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480060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98181020f4162"/>
          <a:stretch xmlns:a="http://schemas.openxmlformats.org/drawingml/2006/main"/>
        </p:blipFill>
        <p:spPr>
          <a:xfrm xmlns:a="http://schemas.openxmlformats.org/drawingml/2006/main">
            <a:off x="2098750" y="1762125"/>
            <a:ext cx="1936600" cy="4191000"/>
          </a:xfrm>
          <a:prstGeom xmlns:a="http://schemas.openxmlformats.org/drawingml/2006/main" prst="roundRect">
            <a:avLst>
              <a:gd name="adj" fmla="val 3182"/>
            </a:avLst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314A31-F7E6-4FD8-B85C-6138071F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사용자 기능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C026C2-6EAD-428D-B89E-CD247A93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22C1B61-54DD-4E5A-97CD-315C432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게시글·댓글 작성/수정/삭제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00AF25-010E-46C3-80EA-BEAE9CD6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347564-581B-425E-A67D-20DB70E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게시판별 페이지네이션·좋아요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A1C71E2-CD84-48E0-81B0-6F786858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67F3B7F-A220-4516-9B7B-65BBC7A6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신고 및 기기 단위 콘텐츠·작성자 숨김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3774E47-186E-479E-84D8-34E2F1D7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운영 기능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04F377D-8603-4A98-A6B9-F1730F6B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36C49A1-09B8-4F33-A890-451DBC9F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작성 전 커뮤니티 운영정책 명시 동의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1A21D50-C559-4F79-9C63-4328F134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720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2B3E3F-3138-4B10-86D1-B3EF01F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7202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관리자 로그인·만료 세션·신고 처리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E990189-1A78-4DE9-A063-64E08F9D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01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F7D9FDF-0CE5-4A04-A04F-AB12356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01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신고 대상 삭제 후 처리 상태 자동 갱신</a:t>
            </a:r>
          </a:p>
        </p:txBody>
      </p:sp>
    </p:spTree>
    <p:extLst>
      <p:ext uri="{BB962C8B-B14F-4D97-AF65-F5344CB8AC3E}">
        <p14:creationId xmlns:p14="http://schemas.microsoft.com/office/powerpoint/2010/main" val="3620759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75DBC2A7-221F-4F57-B5BE-3C526A8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C2B7E51-6E27-4F68-B23A-2F176B23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09 · SCOPE DECISION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0E2CA7-5F87-4CE1-BD67-C3E33B26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신뢰 가능한 데이터가 없으면 기능을 ‘완성된 것처럼’ 제공하지 않았습니다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76C1720-27D0-41A0-A90D-5D5B6C04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10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D18D88D-BE77-46D4-9F6C-EE800222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image-frame">
            <a:extLst xmlns:a="http://schemas.openxmlformats.org/drawingml/2006/main">
              <a:ext uri="{FF2B5EF4-FFF2-40B4-BE49-F238E27FC236}">
                <a16:creationId xmlns:a16="http://schemas.microsoft.com/office/drawing/2014/main" id="{9D9402F3-DF5F-413E-B5A1-84B668F7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1338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b66615b0c4355"/>
          <a:stretch xmlns:a="http://schemas.openxmlformats.org/drawingml/2006/main"/>
        </p:blipFill>
        <p:spPr>
          <a:xfrm xmlns:a="http://schemas.openxmlformats.org/drawingml/2006/main">
            <a:off x="1875409" y="1809750"/>
            <a:ext cx="1716531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6E1C3961-1491-4CB1-8B96-C1FF9340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790700"/>
            <a:ext cx="41338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43bc8f624451f"/>
          <a:stretch xmlns:a="http://schemas.openxmlformats.org/drawingml/2006/main"/>
        </p:blipFill>
        <p:spPr>
          <a:xfrm xmlns:a="http://schemas.openxmlformats.org/drawingml/2006/main">
            <a:off x="6285484" y="1809750"/>
            <a:ext cx="1716531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549BADD2-F286-4E97-BA4D-D6490204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09750"/>
            <a:ext cx="2028825" cy="3714750"/>
          </a:xfrm>
          <a:prstGeom xmlns:a="http://schemas.openxmlformats.org/drawingml/2006/main" prst="roundRect">
            <a:avLst>
              <a:gd name="adj" fmla="val 7512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F5B381-D4FF-4FB7-9FC1-E79F5ED2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A6C9"/>
                </a:solidFill>
              </a:defRPr>
            </a:pPr>
            <a:r>
              <a:rPr sz="1950" b="1">
                <a:solidFill>
                  <a:srgbClr val="0AA6C9"/>
                </a:solidFill>
              </a:rPr>
              <a:t>AED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658A26-FBA5-4509-9812-15552E9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1462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공공데이터 API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응답·이용조건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갱신 신뢰성 확인 전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검색 기능 보류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9A439-5C72-4D90-A77D-DEC4D120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338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36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F866FA8-BC89-4E67-BFF4-ADABB06E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A6C9"/>
                </a:solidFill>
              </a:defRPr>
            </a:pPr>
            <a:r>
              <a:rPr sz="1050" b="1">
                <a:solidFill>
                  <a:srgbClr val="0AA6C9"/>
                </a:solidFill>
              </a:rPr>
              <a:t>대신 제공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CC0B30-9703-4DBB-AB15-2B9D382A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053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AD4DF"/>
                </a:solidFill>
              </a:defRPr>
            </a:pPr>
            <a:r>
              <a:rPr sz="1350" b="1">
                <a:solidFill>
                  <a:srgbClr val="CAD4DF"/>
                </a:solidFill>
              </a:rPr>
              <a:t>119 전화</a:t>
            </a:r>
          </a:p>
          <a:p xmlns:a="http://schemas.openxmlformats.org/drawingml/2006/main">
            <a:pPr algn="ctr">
              <a:defRPr sz="1350" b="1">
                <a:solidFill>
                  <a:srgbClr val="CAD4DF"/>
                </a:solidFill>
              </a:defRPr>
            </a:pPr>
            <a:r>
              <a:rPr sz="1350" b="1">
                <a:solidFill>
                  <a:srgbClr val="CAD4DF"/>
                </a:solidFill>
              </a:rPr>
              <a:t>응급 대처 안내</a:t>
            </a:r>
          </a:p>
        </p:txBody>
      </p:sp>
    </p:spTree>
    <p:extLst>
      <p:ext uri="{BB962C8B-B14F-4D97-AF65-F5344CB8AC3E}">
        <p14:creationId xmlns:p14="http://schemas.microsoft.com/office/powerpoint/2010/main" val="1376608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accent">
            <a:extLst xmlns:a="http://schemas.openxmlformats.org/drawingml/2006/main">
              <a:ext uri="{FF2B5EF4-FFF2-40B4-BE49-F238E27FC236}">
                <a16:creationId xmlns:a16="http://schemas.microsoft.com/office/drawing/2014/main" id="{D7612935-842A-415E-9549-28959991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297DC1A-906D-4C9C-857B-C52B90E1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10 · 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D6FD16-CB23-44E4-948F-05485041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클라이언트·API·DB·외부 데이터를 책임별로 분리했습니다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DA00085-E1E3-4DC2-9C94-C2AE4ECE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11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FE7C99D-EBEA-4287-82C1-FD1C7DE3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architecture-arrow">
            <a:extLst xmlns:a="http://schemas.openxmlformats.org/drawingml/2006/main">
              <a:ext uri="{FF2B5EF4-FFF2-40B4-BE49-F238E27FC236}">
                <a16:creationId xmlns:a16="http://schemas.microsoft.com/office/drawing/2014/main" id="{AFE015CF-B18D-4D57-A7F6-0C7D267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4800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arrow">
            <a:extLst xmlns:a="http://schemas.openxmlformats.org/drawingml/2006/main">
              <a:ext uri="{FF2B5EF4-FFF2-40B4-BE49-F238E27FC236}">
                <a16:creationId xmlns:a16="http://schemas.microsoft.com/office/drawing/2014/main" id="{74170490-6AEB-47B8-ADCB-2058B1CF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arrow">
            <a:extLst xmlns:a="http://schemas.openxmlformats.org/drawingml/2006/main">
              <a:ext uri="{FF2B5EF4-FFF2-40B4-BE49-F238E27FC236}">
                <a16:creationId xmlns:a16="http://schemas.microsoft.com/office/drawing/2014/main" id="{C7393E48-9146-4F7C-B22E-A09FEBF7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BF6F6203-5161-4D70-91C3-80F6481E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C130FB-FE26-4B8F-A296-26AC4F76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E6"/>
                </a:solidFill>
              </a:defRPr>
            </a:pPr>
            <a:r>
              <a:rPr sz="1050" b="1">
                <a:solidFill>
                  <a:srgbClr val="1463E6"/>
                </a:solidFill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BEC56A-408A-4571-AEEB-09EBE16A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Expo App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B73C62D-704E-4A5B-8A29-D8179FD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React Native · TS</a:t>
            </a:r>
          </a:p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Router · SecureStore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7737F589-DAC4-45EB-93CD-AA62DFC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3837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BD5DC2F-1F70-49D3-88EA-BA53BADA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2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A6C9"/>
                </a:solidFill>
              </a:defRPr>
            </a:pPr>
            <a:r>
              <a:rPr sz="1050" b="1">
                <a:solidFill>
                  <a:srgbClr val="0AA6C9"/>
                </a:solidFill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10B802-B0BA-4705-AE11-519C111F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51A208-ADF1-4698-81C7-33D5B0F8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813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3DF"/>
                </a:solidFill>
              </a:defRPr>
            </a:pPr>
            <a:r>
              <a:rPr sz="1200" b="0">
                <a:solidFill>
                  <a:srgbClr val="C8D3DF"/>
                </a:solidFill>
              </a:rPr>
              <a:t>REST API · Filter</a:t>
            </a:r>
          </a:p>
          <a:p xmlns:a="http://schemas.openxmlformats.org/drawingml/2006/main">
            <a:pPr algn="l">
              <a:defRPr sz="1200" b="0">
                <a:solidFill>
                  <a:srgbClr val="C8D3DF"/>
                </a:solidFill>
              </a:defRPr>
            </a:pPr>
            <a:r>
              <a:rPr sz="1200" b="0">
                <a:solidFill>
                  <a:srgbClr val="C8D3DF"/>
                </a:solidFill>
              </a:rPr>
              <a:t>Cache · Rate Limit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1C53DAA9-30F5-48E5-8E4C-D3560057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083D061-301D-4D5C-8A2C-52DF9A87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E6"/>
                </a:solidFill>
              </a:defRPr>
            </a:pPr>
            <a:r>
              <a:rPr sz="1050" b="1">
                <a:solidFill>
                  <a:srgbClr val="1463E6"/>
                </a:solidFill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2227E96-95E9-453A-BFB2-A930E127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MySQL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CC8AE19-7AD3-4BF6-9459-669BB2B6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813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Post · Comment</a:t>
            </a:r>
          </a:p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Report · MyBatis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E0C63BC7-F0DA-42B5-8CCF-B7F3C619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3837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7925E31-5CF9-4E8B-A702-87C102C1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2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E6"/>
                </a:solidFill>
              </a:defRPr>
            </a:pPr>
            <a:r>
              <a:rPr sz="1050" b="1">
                <a:solidFill>
                  <a:srgbClr val="1463E6"/>
                </a:solidFill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868BE19-1081-4C28-B59F-0185822C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Public APIs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2A9D8D4-1469-4593-BC1C-BE24917B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813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NMC Emergency</a:t>
            </a:r>
          </a:p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Naver Map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D3F9C63-62B0-40D9-9166-811670A6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E6"/>
                </a:solidFill>
              </a:defRPr>
            </a:pPr>
            <a:r>
              <a:rPr sz="1350" b="1">
                <a:solidFill>
                  <a:srgbClr val="1463E6"/>
                </a:solidFill>
              </a:rPr>
              <a:t>운영 경로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BE7014D-B2DB-4A83-B314-D7C162D1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053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Android APK → HTTPS → Nginx → Spring Boot :8080 → MySQL / 공공데이터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3F8F50B-5150-4893-952D-B2F2995D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앱의 서버 주소는 src/config/api.ts 한 곳에서 관리하고, 키·비밀번호는 환경변수로 주입합니다.</a:t>
            </a:r>
          </a:p>
        </p:txBody>
      </p:sp>
    </p:spTree>
    <p:extLst>
      <p:ext uri="{BB962C8B-B14F-4D97-AF65-F5344CB8AC3E}">
        <p14:creationId xmlns:p14="http://schemas.microsoft.com/office/powerpoint/2010/main" val="11361814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accent">
            <a:extLst xmlns:a="http://schemas.openxmlformats.org/drawingml/2006/main">
              <a:ext uri="{FF2B5EF4-FFF2-40B4-BE49-F238E27FC236}">
                <a16:creationId xmlns:a16="http://schemas.microsoft.com/office/drawing/2014/main" id="{243BE9C1-78DE-4B96-9781-DF2FC454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4F91634-D8E8-453E-B65C-376E35CC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11 · BACKEND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A20A33-57D1-4C85-998F-A518B5EB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실시간성과 호출 비용을 데이터별 TTL로 분리했습니다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B9504B8-0AB9-48CF-A746-C2A61ABC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12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B779557-6715-40F1-948E-4DE04909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9AA021-FA22-4AE3-9A94-0AFFB4B9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데이터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1BD1EB1-806C-439F-AA27-8B100EB2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캐시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F6C7F4-C0B4-4162-9167-DDCCCE5A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573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사용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EF676-E1DD-4955-A365-014E8B1C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203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C632B3F-6C06-4136-BC0F-ECE17BF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실시간 병상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98A6EAA-30F4-4137-95BB-03825E86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4657"/>
                </a:solidFill>
              </a:defRPr>
            </a:pPr>
            <a:r>
              <a:rPr sz="1500" b="1">
                <a:solidFill>
                  <a:srgbClr val="E94657"/>
                </a:solidFill>
              </a:rPr>
              <a:t>15초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9C0042-EA07-4435-99A8-618A3777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가용 병상·장비·갱신시각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4553A-71F2-40B4-AEB1-AEE6DD84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26FBAFE-E090-47AF-B355-DB1BE627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중증 수용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F97006F-053A-4438-9426-F5DAE492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3E6"/>
                </a:solidFill>
              </a:defRPr>
            </a:pPr>
            <a:r>
              <a:rPr sz="1500" b="1">
                <a:solidFill>
                  <a:srgbClr val="1463E6"/>
                </a:solidFill>
              </a:rPr>
              <a:t>60초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CC32654-0DC9-42FD-8E35-71EE7F22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질환별 수용 가능 정보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AC719-9414-4AA3-A12A-390A62D3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B38AC2D-E32A-4017-B59A-1D811AB3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병원 기본정보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CBECCF-22F4-4666-AEF5-5CBC1833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3E6"/>
                </a:solidFill>
              </a:defRPr>
            </a:pPr>
            <a:r>
              <a:rPr sz="1500" b="1">
                <a:solidFill>
                  <a:srgbClr val="1463E6"/>
                </a:solidFill>
              </a:rPr>
              <a:t>6시간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90CB54B-25C6-48F2-A438-0BFC740D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주소·좌표·전화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39561-0D66-41F3-AF99-DF256A8D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9AE566-3892-438D-A74E-8552256C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</a:defRPr>
            </a:pPr>
            <a:r>
              <a:rPr sz="1500" b="1">
                <a:solidFill>
                  <a:srgbClr val="122033"/>
                </a:solidFill>
              </a:rPr>
              <a:t>진료과 정보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2527AD9-E86D-4C9B-B613-C6CDA504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3E6"/>
                </a:solidFill>
              </a:defRPr>
            </a:pPr>
            <a:r>
              <a:rPr sz="1500" b="1">
                <a:solidFill>
                  <a:srgbClr val="1463E6"/>
                </a:solidFill>
              </a:rPr>
              <a:t>6시간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1C0B5E7-E5E5-4D29-8654-A8ABC89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증상 추천 점수 계산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A9D9E-C78E-43BC-8AA2-6A7A22D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F233BEDF-9133-46FC-84D5-1475CAC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09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BFC3193-C36F-4150-96DE-C46A8669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0067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병상 + 기본정보를 병렬 조회 → HPID로 병합 → 거리·추천 점수 계산 → 조건 필터 → 정렬</a:t>
            </a:r>
          </a:p>
        </p:txBody>
      </p:sp>
    </p:spTree>
    <p:extLst>
      <p:ext uri="{BB962C8B-B14F-4D97-AF65-F5344CB8AC3E}">
        <p14:creationId xmlns:p14="http://schemas.microsoft.com/office/powerpoint/2010/main" val="2041741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925A84-4907-4FD4-AA93-DB29C66F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2A36DF3-897B-4F1B-AFCF-0379496D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12 · RECOMMENDATION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696B66-4A99-4B20-894C-0797917C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추천 결과는 명시적인 점수·필터·정렬 단계로 설명 가능합니다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835EC54-4CE2-4E4A-B383-727C4260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13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F18C4BD-7539-4D51-A3C0-D5850C93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AF63F23-F7A2-4E5B-9D1C-DF133F56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EC9DE2-833C-4D3C-B59C-89283C5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D0BE50-0B29-4EA4-A377-2234D884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거리 계산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116E03-4CEF-4CA2-8918-7311F1BA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위·경도 기반 거리 산출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2C19802C-9FBF-4AA9-8F38-D632287A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4B45961-A174-4B62-AAC6-8C500164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CFEEA4-39F3-4A60-8827-B9B95E5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증상 매핑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3A837D-58F8-4AE5-8959-10F72E68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증상 → 관련 진료과와 가중치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AC95B634-A811-41E5-9265-9FC34162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258266A-B997-4D51-B954-350F8AA7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243E40D-4F03-4347-A18B-14F94D1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조건 필터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967EA24-FD15-4D4A-9CD3-C6D197FC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병상·장비·중증 조건 all-match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6A2D329D-86CD-4FE8-BAD4-CE734224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52625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8C6DD16-4D43-4DE8-92DF-3F60EC15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A6C9"/>
                </a:solidFill>
              </a:defRPr>
            </a:pPr>
            <a:r>
              <a:rPr sz="1125" b="1">
                <a:solidFill>
                  <a:srgbClr val="0AA6C9"/>
                </a:solidFill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60A3536-B526-431C-B8E4-2433AE1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정렬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3501851-9CE3-44EB-BB35-3913DB3F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3DF"/>
                </a:solidFill>
              </a:defRPr>
            </a:pPr>
            <a:r>
              <a:rPr sz="1200" b="0">
                <a:solidFill>
                  <a:srgbClr val="C8D3DF"/>
                </a:solidFill>
              </a:rPr>
              <a:t>추천점수 → 선택 정렬 → 거리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57D2417-3350-4618-8ACF-181B7134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전국 키워드 검색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104F88F-F966-4AE5-94A0-5B1C6B0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3"/>
                </a:solidFill>
              </a:defRPr>
            </a:pPr>
            <a:r>
              <a:rPr sz="1500" b="0">
                <a:solidFill>
                  <a:srgbClr val="617083"/>
                </a:solidFill>
              </a:rPr>
              <a:t>17개 시·도 기본정보 색인을 병렬 확인하고, 일치 지역의 실시간 정보를 조회한 뒤 HPID로 중복 제거합니다.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9029BF31-4447-4067-B9EB-6D41A7A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28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D1C39CC-FB22-4393-83C5-F070858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02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E6"/>
                </a:solidFill>
              </a:defRPr>
            </a:pPr>
            <a:r>
              <a:rPr sz="1275" b="1">
                <a:solidFill>
                  <a:srgbClr val="1463E6"/>
                </a:solidFill>
              </a:rPr>
              <a:t>동일 필터 계약: App query params = Controller request params = Service filtering</a:t>
            </a:r>
          </a:p>
        </p:txBody>
      </p:sp>
    </p:spTree>
    <p:extLst>
      <p:ext uri="{BB962C8B-B14F-4D97-AF65-F5344CB8AC3E}">
        <p14:creationId xmlns:p14="http://schemas.microsoft.com/office/powerpoint/2010/main" val="15386456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">
            <a:extLst xmlns:a="http://schemas.openxmlformats.org/drawingml/2006/main">
              <a:ext uri="{FF2B5EF4-FFF2-40B4-BE49-F238E27FC236}">
                <a16:creationId xmlns:a16="http://schemas.microsoft.com/office/drawing/2014/main" id="{189C8514-8520-4EFA-9C27-348F3117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3E1B072-FBAC-4C5B-A7B4-486C604B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13 · SECURITY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CD43C3-C397-4FFC-8D44-45DA81C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보안은 비밀번호뿐 아니라 위치·로그·요청량까지 확장했습니다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7C1FB8A-60EC-493D-A698-A9DE5A1F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14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61C6839-078C-4A40-A92D-64F5DA59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4F36BE-76A8-4172-B1AF-19F988E2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PASSWORD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17B351-098A-4664-B09E-2A5D0724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097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</a:defRPr>
            </a:pPr>
            <a:r>
              <a:rPr sz="1425" b="1">
                <a:solidFill>
                  <a:srgbClr val="122033"/>
                </a:solidFill>
              </a:rPr>
              <a:t>게시글·댓글 BCrypt 해시, 응답 DTO에서 평문·해시 제외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22297-D177-4B21-985B-FA2A364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8C4E45-EDCC-40FB-9678-AD3A70A2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ADMIN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70D430-9CBE-4312-81DB-75844666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289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</a:defRPr>
            </a:pPr>
            <a:r>
              <a:rPr sz="1425" b="1">
                <a:solidFill>
                  <a:srgbClr val="122033"/>
                </a:solidFill>
              </a:rPr>
              <a:t>비용 12 이상 BCrypt, 64자 이상 토큰, 1시간 세션, 로그인 시도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E8078-A0AC-4E7E-88BF-0F656E56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1C3E68-C59B-46A7-9376-B80F837F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RATE LIMIT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39F589-34CD-449D-88E8-081DE628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48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33"/>
                </a:solidFill>
              </a:defRPr>
            </a:pPr>
            <a:r>
              <a:rPr sz="1425" b="0">
                <a:solidFill>
                  <a:srgbClr val="122033"/>
                </a:solidFill>
              </a:rPr>
              <a:t>응급 조회 120/분, warmup 20/분, 커뮤니티 쓰기 30/분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434D8-B5C7-4595-9048-232AC2F7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87C74B-7F47-466E-AF14-810EA72E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LOCATION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CD40A72-8239-4054-ADB3-ECC45F2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672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33"/>
                </a:solidFill>
              </a:defRPr>
            </a:pPr>
            <a:r>
              <a:rPr sz="1425" b="0">
                <a:solidFill>
                  <a:srgbClr val="122033"/>
                </a:solidFill>
              </a:rPr>
              <a:t>좌표 DB 미보관, Nginx 로그에서 query string 제거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EB9D3-9168-45EC-8F49-F579498A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6EC727-DF45-44B9-A3C4-840699FC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HEADERS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5E1B482-D3E5-453D-94D1-A3B7FCAF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863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33"/>
                </a:solidFill>
              </a:defRPr>
            </a:pPr>
            <a:r>
              <a:rPr sz="1425" b="0">
                <a:solidFill>
                  <a:srgbClr val="122033"/>
                </a:solidFill>
              </a:rPr>
              <a:t>HTTPS 리다이렉트, nosniff, frame deny, referrer 제한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95D5C-D24D-4BD3-ACAE-36EA1418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52AB7819-1311-4591-88AC-B3BBFA39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0965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5672659-41A0-4969-A1E8-87ED0465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9122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8A62"/>
                </a:solidFill>
              </a:defRPr>
            </a:pPr>
            <a:r>
              <a:rPr sz="1200" b="1">
                <a:solidFill>
                  <a:srgbClr val="138A62"/>
                </a:solidFill>
              </a:rPr>
              <a:t>API 키·DB 비밀번호·관리자 해시는 저장소가 아닌 환경변수로 관리</a:t>
            </a:r>
          </a:p>
        </p:txBody>
      </p:sp>
    </p:spTree>
    <p:extLst>
      <p:ext uri="{BB962C8B-B14F-4D97-AF65-F5344CB8AC3E}">
        <p14:creationId xmlns:p14="http://schemas.microsoft.com/office/powerpoint/2010/main" val="3149517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accent">
            <a:extLst xmlns:a="http://schemas.openxmlformats.org/drawingml/2006/main">
              <a:ext uri="{FF2B5EF4-FFF2-40B4-BE49-F238E27FC236}">
                <a16:creationId xmlns:a16="http://schemas.microsoft.com/office/drawing/2014/main" id="{DB7F82C5-FBAF-4F46-8F31-CDDBC929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062FD94-1D6A-401B-89ED-E2474575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14 · OPERATIONS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662050-D0C2-4CE7-965C-7114BF4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개발 환경을 넘어 HTTPS 운영 API와 설치 APK까지 연결했습니다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1CF973B-C2AA-42D7-AE5E-82587E03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15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F69BCD4-883A-47EF-BD84-C2790D7B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deployment-arrow">
            <a:extLst xmlns:a="http://schemas.openxmlformats.org/drawingml/2006/main">
              <a:ext uri="{FF2B5EF4-FFF2-40B4-BE49-F238E27FC236}">
                <a16:creationId xmlns:a16="http://schemas.microsoft.com/office/drawing/2014/main" id="{A015A790-B5DB-4904-8507-7B6FBA8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14675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ployment-arrow">
            <a:extLst xmlns:a="http://schemas.openxmlformats.org/drawingml/2006/main">
              <a:ext uri="{FF2B5EF4-FFF2-40B4-BE49-F238E27FC236}">
                <a16:creationId xmlns:a16="http://schemas.microsoft.com/office/drawing/2014/main" id="{A754FE1A-39D5-4762-BD2B-4DC9ADD5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14675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ployment-arrow">
            <a:extLst xmlns:a="http://schemas.openxmlformats.org/drawingml/2006/main">
              <a:ext uri="{FF2B5EF4-FFF2-40B4-BE49-F238E27FC236}">
                <a16:creationId xmlns:a16="http://schemas.microsoft.com/office/drawing/2014/main" id="{29EB5E4B-6FD5-4827-9284-03585DB8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AD61FAD-87AF-41B5-AB5E-FFD3B2B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286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D9CBCE-D11A-44CC-B1BF-254A781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LOCAL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F0B43D1-FC82-469B-9BCA-5804701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Expo 8081</a:t>
            </a:r>
          </a:p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Spring 8080</a:t>
            </a:r>
          </a:p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MySQL 3306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AD9AB8EB-3BFB-4E37-9AE6-13842212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2286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80AB59-5F59-49C8-A9F7-787CB545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00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BUILD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AE1EED1-B804-42E4-8120-AE58508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527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EAS Preview</a:t>
            </a:r>
          </a:p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versionCode 4</a:t>
            </a:r>
          </a:p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Android APK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A2FE1573-62CA-4699-8403-4DC052B2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286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9525">
            <a:solidFill>
              <a:srgbClr val="122033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64E0C21-98DE-4D0D-9BAC-8BCFAA73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A6C9"/>
                </a:solidFill>
              </a:defRPr>
            </a:pPr>
            <a:r>
              <a:rPr sz="1125" b="1">
                <a:solidFill>
                  <a:srgbClr val="0AA6C9"/>
                </a:solidFill>
              </a:rPr>
              <a:t>SERVER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9E328B7-B04F-49BB-A709-83B465AA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AWS EC2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Nginx HTTPS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Spring service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B124436A-D55D-4062-A22E-475F0AC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286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0093E61-234A-4B43-82B8-C0E96C1B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00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RELEASE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0A72713-0469-46F7-89B1-6DB1A299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GitHub Release</a:t>
            </a:r>
          </a:p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v1.0.0-rc4</a:t>
            </a:r>
          </a:p>
          <a:p xmlns:a="http://schemas.openxmlformats.org/drawingml/2006/main">
            <a:pPr algn="ctr">
              <a:defRPr sz="1650" b="1">
                <a:solidFill>
                  <a:srgbClr val="122033"/>
                </a:solidFill>
              </a:defRPr>
            </a:pPr>
            <a:r>
              <a:rPr sz="1650" b="1">
                <a:solidFill>
                  <a:srgbClr val="122033"/>
                </a:solidFill>
              </a:rPr>
              <a:t>직접 설치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2D01188C-3CB0-4F5D-88FE-FAE925C7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557D22C-4C2F-4B40-918E-4AB0F9B1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A6C9"/>
                </a:solidFill>
              </a:defRPr>
            </a:pPr>
            <a:r>
              <a:rPr sz="2250" b="1">
                <a:solidFill>
                  <a:srgbClr val="0AA6C9"/>
                </a:solidFill>
              </a:rPr>
              <a:t>200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5B8BA12-0129-40A0-ADA5-E55CADD3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00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FDC"/>
                </a:solidFill>
              </a:defRPr>
            </a:pPr>
            <a:r>
              <a:rPr sz="1050" b="0">
                <a:solidFill>
                  <a:srgbClr val="C3CFDC"/>
                </a:solidFill>
              </a:rPr>
              <a:t>운영 /community/posts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D04639FC-E334-48F0-8373-AF906126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62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4C94CDD-C83C-4723-A98B-0072F3AE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053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A6C9"/>
                </a:solidFill>
              </a:defRPr>
            </a:pPr>
            <a:r>
              <a:rPr sz="2250" b="1">
                <a:solidFill>
                  <a:srgbClr val="0AA6C9"/>
                </a:solidFill>
              </a:rPr>
              <a:t>200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72BB4EC-DB55-4CE6-A81B-99265FC9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00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FDC"/>
                </a:solidFill>
              </a:defRPr>
            </a:pPr>
            <a:r>
              <a:rPr sz="1050" b="0">
                <a:solidFill>
                  <a:srgbClr val="C3CFDC"/>
                </a:solidFill>
              </a:rPr>
              <a:t>운영 /emergency/nearby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EC7CFC6B-DF1B-4C04-AA6D-8AE1AD57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62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5E1EA45-5E82-4D1D-8A75-77CCDBC9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053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A6C9"/>
                </a:solidFill>
              </a:defRPr>
            </a:pPr>
            <a:r>
              <a:rPr sz="2250" b="1">
                <a:solidFill>
                  <a:srgbClr val="0AA6C9"/>
                </a:solidFill>
              </a:rPr>
              <a:t>4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4C04E18-93F6-469B-AA12-6824A2CD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00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FDC"/>
                </a:solidFill>
              </a:defRPr>
            </a:pPr>
            <a:r>
              <a:rPr sz="1050" b="0">
                <a:solidFill>
                  <a:srgbClr val="C3CFDC"/>
                </a:solidFill>
              </a:rPr>
              <a:t>Preview APK 빌드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10530234-8EAC-4C35-88E0-3FC013BF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317E2C5-2A9F-40A5-B8C5-EA480C87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A6C9"/>
                </a:solidFill>
              </a:defRPr>
            </a:pPr>
            <a:r>
              <a:rPr sz="2250" b="1">
                <a:solidFill>
                  <a:srgbClr val="0AA6C9"/>
                </a:solidFill>
              </a:rPr>
              <a:t>HTTPS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B2B6599-F5E3-4EFA-BFE5-3630CE01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00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FDC"/>
                </a:solidFill>
              </a:defRPr>
            </a:pPr>
            <a:r>
              <a:rPr sz="1050" b="0">
                <a:solidFill>
                  <a:srgbClr val="C3CFDC"/>
                </a:solidFill>
              </a:rPr>
              <a:t>api.lastcall.kro.kr</a:t>
            </a:r>
          </a:p>
        </p:txBody>
      </p:sp>
    </p:spTree>
    <p:extLst>
      <p:ext uri="{BB962C8B-B14F-4D97-AF65-F5344CB8AC3E}">
        <p14:creationId xmlns:p14="http://schemas.microsoft.com/office/powerpoint/2010/main" val="16746599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accent">
            <a:extLst xmlns:a="http://schemas.openxmlformats.org/drawingml/2006/main">
              <a:ext uri="{FF2B5EF4-FFF2-40B4-BE49-F238E27FC236}">
                <a16:creationId xmlns:a16="http://schemas.microsoft.com/office/drawing/2014/main" id="{B1A0EF72-0699-47FD-822C-D5776BBC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18917EE-8DCE-4FF8-93F0-34924C09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15 · TROUBLESHOOTING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622D6D-F15E-438A-8BF2-1C1E241F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실기기 문제를 재현하고 운영 로그·회귀 테스트로 닫았습니다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A2F1955-FF1E-43BE-8B8D-E6539D9D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16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B350E88-DE31-424C-ADDB-C6160580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1084A415-193B-466D-A8A3-2D6FFFF1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4095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C2A565-9F99-4014-93A3-2A7C5729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B7EEBC-BD69-4840-AE51-2CF12343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280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지도 진입 시 앱 종료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B291E4-577E-4986-B8F7-BF1306C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657"/>
                </a:solidFill>
              </a:defRPr>
            </a:pPr>
            <a:r>
              <a:rPr sz="975" b="1">
                <a:solidFill>
                  <a:srgbClr val="E94657"/>
                </a:solidFill>
              </a:rPr>
              <a:t>CAUSE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31B7E0-C4DC-4A77-9443-2513E030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Google Maps 네이티브 설정 부재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ABCB5AC-F98C-43C9-9925-D29FE23D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ACTION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108683-3AB1-44D3-B30B-EB75C574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안전한 목록으로 우선 교체 후 Naver Map 모듈 빌드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2ACC30-C155-4391-8645-41167082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62"/>
                </a:solidFill>
              </a:defRPr>
            </a:pPr>
            <a:r>
              <a:rPr sz="975" b="1">
                <a:solidFill>
                  <a:srgbClr val="138A62"/>
                </a:solidFill>
              </a:rPr>
              <a:t>RESULT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207C872-C48D-4757-8E1F-32B31307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</a:defRPr>
            </a:pPr>
            <a:r>
              <a:rPr sz="1125" b="1">
                <a:solidFill>
                  <a:srgbClr val="122033"/>
                </a:solidFill>
              </a:rPr>
              <a:t>지도 미설정 환경에서도 앱 유지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083A25DA-8A33-497B-A066-B11B1462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3238500" cy="4095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FAB8F8-F235-44FA-9A49-C3F92CBD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19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F562EFF-0E35-44B1-AAF4-CA5D20AD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28875"/>
            <a:ext cx="280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게시판 GET만 서버 미도달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8FE5EC5-7F96-4D76-A7E9-5AB85838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90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657"/>
                </a:solidFill>
              </a:defRPr>
            </a:pPr>
            <a:r>
              <a:rPr sz="975" b="1">
                <a:solidFill>
                  <a:srgbClr val="E94657"/>
                </a:solidFill>
              </a:rPr>
              <a:t>CAUSE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FEB7A03-27C8-4F8E-B54D-D30DA81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Android 배포 환경의 요청 직전 계측 예외 가능성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5746F24-B955-4B16-9858-FE7EF2B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ACTION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AEF650A-3E86-4081-8624-3D3F4BDA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57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console.time 계측 제거·요청 흐름 단순화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D0E6010-3F24-4DD9-A498-72904920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911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62"/>
                </a:solidFill>
              </a:defRPr>
            </a:pPr>
            <a:r>
              <a:rPr sz="975" b="1">
                <a:solidFill>
                  <a:srgbClr val="138A62"/>
                </a:solidFill>
              </a:rPr>
              <a:t>RESULT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8079405-F570-41BE-8A64-B94DDE92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76875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</a:defRPr>
            </a:pPr>
            <a:r>
              <a:rPr sz="1125" b="1">
                <a:solidFill>
                  <a:srgbClr val="122033"/>
                </a:solidFill>
              </a:rPr>
              <a:t>운영 게시판 HTTP 200 확인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61FF0BEB-723E-45C3-9214-F4E3E5BA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238500" cy="4095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8BD8D5A-A53B-4E93-8BBA-1E89114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19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03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4AA6B96-ADC6-4EFD-BF44-82647335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28875"/>
            <a:ext cx="280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33"/>
                </a:solidFill>
              </a:defRPr>
            </a:pPr>
            <a:r>
              <a:rPr sz="1725" b="1">
                <a:solidFill>
                  <a:srgbClr val="122033"/>
                </a:solidFill>
              </a:rPr>
              <a:t>관리자 401이 500으로 변환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D0454A2-E134-450F-A222-AC7FFAA9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90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657"/>
                </a:solidFill>
              </a:defRPr>
            </a:pPr>
            <a:r>
              <a:rPr sz="975" b="1">
                <a:solidFill>
                  <a:srgbClr val="E94657"/>
                </a:solidFill>
              </a:rPr>
              <a:t>CAUSE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572D104-836A-4B01-89D9-94E399B4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7662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공통 예외 처리기가 상태 코드를 덮어씀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A1A8B96-6FA4-46B1-88AF-2A8213AE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ACTION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7A56F67-5693-478A-BBA4-3826F45C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57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ResponseStatusException 상태 보존 + 회귀 테스트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40EB75D-CB56-468F-8080-803A0C29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62"/>
                </a:solidFill>
              </a:defRPr>
            </a:pPr>
            <a:r>
              <a:rPr sz="975" b="1">
                <a:solidFill>
                  <a:srgbClr val="138A62"/>
                </a:solidFill>
              </a:rPr>
              <a:t>RESULT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F2FD07A-D20A-4742-BE09-EBC6ECE2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76875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</a:defRPr>
            </a:pPr>
            <a:r>
              <a:rPr sz="1125" b="1">
                <a:solidFill>
                  <a:srgbClr val="122033"/>
                </a:solidFill>
              </a:rPr>
              <a:t>잘못된 토큰은 401, 서버 테스트 14개 통과</a:t>
            </a:r>
          </a:p>
        </p:txBody>
      </p:sp>
    </p:spTree>
    <p:extLst>
      <p:ext uri="{BB962C8B-B14F-4D97-AF65-F5344CB8AC3E}">
        <p14:creationId xmlns:p14="http://schemas.microsoft.com/office/powerpoint/2010/main" val="8785685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-accent">
            <a:extLst xmlns:a="http://schemas.openxmlformats.org/drawingml/2006/main">
              <a:ext uri="{FF2B5EF4-FFF2-40B4-BE49-F238E27FC236}">
                <a16:creationId xmlns:a16="http://schemas.microsoft.com/office/drawing/2014/main" id="{61C5F897-031D-4206-A197-2F476D94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558CC76-5E10-4FAC-AB54-EF9A48E9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3E6"/>
                </a:solidFill>
              </a:defRPr>
            </a:pPr>
            <a:r>
              <a:rPr sz="975" b="1">
                <a:solidFill>
                  <a:srgbClr val="1463E6"/>
                </a:solidFill>
              </a:rPr>
              <a:t>16 · VERIFICATION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9F83BE-248E-4ED3-A565-8EA2D8F6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33"/>
                </a:solidFill>
              </a:defRPr>
            </a:pPr>
            <a:r>
              <a:rPr sz="2700" b="1">
                <a:solidFill>
                  <a:srgbClr val="122033"/>
                </a:solidFill>
              </a:rPr>
              <a:t>검증은 정적 검사·서버 테스트·실행 화면·운영 API로 나눴습니다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7D43E7C-FFEE-4721-A50A-3C0310B2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463E6"/>
                </a:solidFill>
              </a:defRPr>
            </a:pPr>
            <a:r>
              <a:rPr sz="825" b="1">
                <a:solidFill>
                  <a:srgbClr val="1463E6"/>
                </a:solidFill>
              </a:rPr>
              <a:t>17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E4A7EE6-3E38-4C7D-99B5-921B4AF7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0A0"/>
                </a:solidFill>
              </a:defRPr>
            </a:pPr>
            <a:r>
              <a:rPr sz="750" b="0">
                <a:solidFill>
                  <a:srgbClr val="8390A0"/>
                </a:solidFill>
              </a:rPr>
              <a:t>LASTCALL · PROJECT PORTFOLIO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C35E1B79-82C5-46E0-8FCB-4BA0E7B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7CADA5-2B79-46C0-8748-EE15ED69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A6C9"/>
                </a:solidFill>
              </a:defRPr>
            </a:pPr>
            <a:r>
              <a:rPr sz="2250" b="1">
                <a:solidFill>
                  <a:srgbClr val="0AA6C9"/>
                </a:solidFill>
              </a:rPr>
              <a:t>45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77290C-5C85-48CD-9C4E-8D80F9D1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FDC"/>
                </a:solidFill>
              </a:defRPr>
            </a:pPr>
            <a:r>
              <a:rPr sz="1050" b="0">
                <a:solidFill>
                  <a:srgbClr val="C3CFDC"/>
                </a:solidFill>
              </a:rPr>
              <a:t>App source files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FB916AA2-3679-4747-B1E0-A46CD610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5AB9FE-45E1-45C8-8B1D-3F535E1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A6C9"/>
                </a:solidFill>
              </a:defRPr>
            </a:pPr>
            <a:r>
              <a:rPr sz="2250" b="1">
                <a:solidFill>
                  <a:srgbClr val="0AA6C9"/>
                </a:solidFill>
              </a:rPr>
              <a:t>24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0F4DC3-ACE7-49B1-8CBD-818E4FD4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FDC"/>
                </a:solidFill>
              </a:defRPr>
            </a:pPr>
            <a:r>
              <a:rPr sz="1050" b="0">
                <a:solidFill>
                  <a:srgbClr val="C3CFDC"/>
                </a:solidFill>
              </a:rPr>
              <a:t>REST endpoints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1DB69934-B820-4F07-ABC8-A2E73B1B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14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6D6111-F314-4269-BACA-28D4A4D0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573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A6C9"/>
                </a:solidFill>
              </a:defRPr>
            </a:pPr>
            <a:r>
              <a:rPr sz="2250" b="1">
                <a:solidFill>
                  <a:srgbClr val="0AA6C9"/>
                </a:solidFill>
              </a:rPr>
              <a:t>14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079EDDD-2AC0-4761-9B29-C22F723A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52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FDC"/>
                </a:solidFill>
              </a:defRPr>
            </a:pPr>
            <a:r>
              <a:rPr sz="1050" b="0">
                <a:solidFill>
                  <a:srgbClr val="C3CFDC"/>
                </a:solidFill>
              </a:rPr>
              <a:t>Server tests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60DA0575-4AE6-4FE1-9259-B764DCE7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25E09FC-8346-457E-A670-A70B7235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A6C9"/>
                </a:solidFill>
              </a:defRPr>
            </a:pPr>
            <a:r>
              <a:rPr sz="2250" b="1">
                <a:solidFill>
                  <a:srgbClr val="0AA6C9"/>
                </a:solidFill>
              </a:rPr>
              <a:t>18/18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6D19938-C652-4F34-AE27-3AD958A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52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FDC"/>
                </a:solidFill>
              </a:defRPr>
            </a:pPr>
            <a:r>
              <a:rPr sz="1050" b="0">
                <a:solidFill>
                  <a:srgbClr val="C3CFDC"/>
                </a:solidFill>
              </a:rPr>
              <a:t>Expo Doctor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6A2791F-45B9-44B7-9488-69CB470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</a:defRPr>
            </a:pPr>
            <a:r>
              <a:rPr sz="1800" b="1">
                <a:solidFill>
                  <a:srgbClr val="122033"/>
                </a:solidFill>
              </a:rPr>
              <a:t>검증 매트릭스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05F7FBE-2176-4616-8C2D-0FC44E17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62"/>
                </a:solidFill>
              </a:defRPr>
            </a:pPr>
            <a:r>
              <a:rPr sz="1350" b="1">
                <a:solidFill>
                  <a:srgbClr val="138A62"/>
                </a:solidFill>
              </a:rPr>
              <a:t>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5BCF47B-9257-4D4C-A3BC-DAA7CF18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APP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3AC6459-1FBC-48E3-8DB6-D7C89627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TypeScript · Expo lint · Android export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30E462-0B74-4EBC-87CB-C48CA661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62"/>
                </a:solidFill>
              </a:defRPr>
            </a:pPr>
            <a:r>
              <a:rPr sz="1350" b="1">
                <a:solidFill>
                  <a:srgbClr val="138A62"/>
                </a:solidFill>
              </a:rPr>
              <a:t>✓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02A3429-5060-4882-9E34-8CB394DF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SERVER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07F0B26-A2F2-45D9-9413-B68703B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95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Maven test · Spring context startup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FB50D9C-6C38-4164-80D2-1E06E517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62"/>
                </a:solidFill>
              </a:defRPr>
            </a:pPr>
            <a:r>
              <a:rPr sz="1350" b="1">
                <a:solidFill>
                  <a:srgbClr val="138A62"/>
                </a:solidFill>
              </a:rPr>
              <a:t>✓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2EF93CE-88E5-47A8-80EB-D0988DA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RUNTIME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3595F18-CDC5-45D1-BC07-BD49A1D0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720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핵심 화면 흐름 · Android 실기기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F20021A-D800-4471-B76F-0566427F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62"/>
                </a:solidFill>
              </a:defRPr>
            </a:pPr>
            <a:r>
              <a:rPr sz="1350" b="1">
                <a:solidFill>
                  <a:srgbClr val="138A62"/>
                </a:solidFill>
              </a:rPr>
              <a:t>✓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DDF6B08-92A4-4F12-B8AA-D918C8AC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24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3E6"/>
                </a:solidFill>
              </a:defRPr>
            </a:pPr>
            <a:r>
              <a:rPr sz="1200" b="1">
                <a:solidFill>
                  <a:srgbClr val="1463E6"/>
                </a:solidFill>
              </a:rPr>
              <a:t>OPERATIONS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446F389-6EDC-4555-9627-A4F613F3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244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HTTPS API 200 · Nginx config · service active</a:t>
            </a:r>
          </a:p>
        </p:txBody>
      </p:sp>
      <p:sp>
        <p:nvSpPr>
          <p:cNvPr id="31" name="qa-flow-frame">
            <a:extLst xmlns:a="http://schemas.openxmlformats.org/drawingml/2006/main">
              <a:ext uri="{FF2B5EF4-FFF2-40B4-BE49-F238E27FC236}">
                <a16:creationId xmlns:a16="http://schemas.microsoft.com/office/drawing/2014/main" id="{C454F051-D180-4440-BD80-BA0A8E85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6860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F4FA22F-0BF9-4AE0-A88C-1E14D85C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E6"/>
                </a:solidFill>
              </a:defRPr>
            </a:pPr>
            <a:r>
              <a:rPr sz="1050" b="1">
                <a:solidFill>
                  <a:srgbClr val="1463E6"/>
                </a:solidFill>
              </a:rPr>
              <a:t>QUALITY GATE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29FA1D3-DDCA-4DA1-94BB-0271F0ED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3E6"/>
                </a:solidFill>
              </a:defRPr>
            </a:pPr>
            <a:r>
              <a:rPr sz="900" b="1">
                <a:solidFill>
                  <a:srgbClr val="1463E6"/>
                </a:solidFill>
              </a:rPr>
              <a:t>01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D618B0A-DF24-4716-9CFC-E08C28D9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33"/>
                </a:solidFill>
              </a:defRPr>
            </a:pPr>
            <a:r>
              <a:rPr sz="975" b="1">
                <a:solidFill>
                  <a:srgbClr val="122033"/>
                </a:solidFill>
              </a:rPr>
              <a:t>STATIC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9A123C8-91B2-4509-B28C-B804BB24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576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3"/>
                </a:solidFill>
              </a:defRPr>
            </a:pPr>
            <a:r>
              <a:rPr sz="900" b="0">
                <a:solidFill>
                  <a:srgbClr val="617083"/>
                </a:solidFill>
              </a:rPr>
              <a:t>TypeScript · lint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153DB5-6B77-4787-84E7-70CEA0D4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529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6B3DB4A-54E5-43F8-8B10-19484C68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862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3E6"/>
                </a:solidFill>
              </a:defRPr>
            </a:pPr>
            <a:r>
              <a:rPr sz="900" b="1">
                <a:solidFill>
                  <a:srgbClr val="1463E6"/>
                </a:solidFill>
              </a:rPr>
              <a:t>02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2790726-8E72-4035-803E-8CA797E4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33"/>
                </a:solidFill>
              </a:defRPr>
            </a:pPr>
            <a:r>
              <a:rPr sz="975" b="1">
                <a:solidFill>
                  <a:srgbClr val="122033"/>
                </a:solidFill>
              </a:rPr>
              <a:t>TEST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B85E44F-A3C0-45A0-A681-E59A8D71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862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3"/>
                </a:solidFill>
              </a:defRPr>
            </a:pPr>
            <a:r>
              <a:rPr sz="900" b="0">
                <a:solidFill>
                  <a:srgbClr val="617083"/>
                </a:solidFill>
              </a:rPr>
              <a:t>Maven · context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FEDD80-B911-4F73-9A39-C176F30D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815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2A183B2-D9E0-420E-84C4-87690DBF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148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3E6"/>
                </a:solidFill>
              </a:defRPr>
            </a:pPr>
            <a:r>
              <a:rPr sz="900" b="1">
                <a:solidFill>
                  <a:srgbClr val="1463E6"/>
                </a:solidFill>
              </a:rPr>
              <a:t>03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4316176E-D905-4147-971B-CF7189B1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148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33"/>
                </a:solidFill>
              </a:defRPr>
            </a:pPr>
            <a:r>
              <a:rPr sz="975" b="1">
                <a:solidFill>
                  <a:srgbClr val="122033"/>
                </a:solidFill>
              </a:rPr>
              <a:t>RUNTIME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0383FA51-59F0-4E97-80D5-DCB01E7D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148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3"/>
                </a:solidFill>
              </a:defRPr>
            </a:pPr>
            <a:r>
              <a:rPr sz="900" b="0">
                <a:solidFill>
                  <a:srgbClr val="617083"/>
                </a:solidFill>
              </a:rPr>
              <a:t>Android · screens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37FB4A-CFE0-4440-BC40-09AE76F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101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E9AA138F-72A6-4245-82DF-D8819A27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3E6"/>
                </a:solidFill>
              </a:defRPr>
            </a:pPr>
            <a:r>
              <a:rPr sz="900" b="1">
                <a:solidFill>
                  <a:srgbClr val="1463E6"/>
                </a:solidFill>
              </a:rPr>
              <a:t>04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3736E281-AAA6-417F-B29B-FBA1A957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33"/>
                </a:solidFill>
              </a:defRPr>
            </a:pPr>
            <a:r>
              <a:rPr sz="975" b="1">
                <a:solidFill>
                  <a:srgbClr val="122033"/>
                </a:solidFill>
              </a:rPr>
              <a:t>OPS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8B8B3E90-5A2B-4BD1-961F-25A404A8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435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3"/>
                </a:solidFill>
              </a:defRPr>
            </a:pPr>
            <a:r>
              <a:rPr sz="900" b="0">
                <a:solidFill>
                  <a:srgbClr val="617083"/>
                </a:solidFill>
              </a:rPr>
              <a:t>HTTPS · service</a:t>
            </a:r>
          </a:p>
        </p:txBody>
      </p:sp>
    </p:spTree>
    <p:extLst>
      <p:ext uri="{BB962C8B-B14F-4D97-AF65-F5344CB8AC3E}">
        <p14:creationId xmlns:p14="http://schemas.microsoft.com/office/powerpoint/2010/main" val="8389009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C5992554-F0B9-4C15-B9BF-A46AD47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B7AFC2C-94F6-4B9B-8BF8-EF697AB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A6C9"/>
                </a:solidFill>
              </a:defRPr>
            </a:pPr>
            <a:r>
              <a:rPr sz="1050" b="1">
                <a:solidFill>
                  <a:srgbClr val="0AA6C9"/>
                </a:solidFill>
              </a:rPr>
              <a:t>WHAT I BUILT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39AA48-8FA1-4688-BA92-4335B213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모바일 화면을 넘어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운영 가능한 서비스 흐름을 만들었습니다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4E4F5-8339-47E7-B714-15A6EE6B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36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0301AC-2D52-41CD-883D-6F05CE6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A6C9"/>
                </a:solidFill>
              </a:defRPr>
            </a:pPr>
            <a:r>
              <a:rPr sz="1125" b="1">
                <a:solidFill>
                  <a:srgbClr val="0AA6C9"/>
                </a:solidFill>
              </a:rPr>
              <a:t>APP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716D05-509B-43D5-8529-F2783311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DDE7"/>
                </a:solidFill>
              </a:defRPr>
            </a:pPr>
            <a:r>
              <a:rPr sz="1500" b="1">
                <a:solidFill>
                  <a:srgbClr val="D4DDE7"/>
                </a:solidFill>
              </a:rPr>
              <a:t>Expo Router · Native Map · SecureStore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FB802-4460-477C-A786-AA1F822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813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36A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638833-9D3B-4D3D-A116-C2E1AB6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A6C9"/>
                </a:solidFill>
              </a:defRPr>
            </a:pPr>
            <a:r>
              <a:rPr sz="1125" b="1">
                <a:solidFill>
                  <a:srgbClr val="0AA6C9"/>
                </a:solidFill>
              </a:rPr>
              <a:t>BACKEND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3015BD-39C6-4BF3-9373-936461F6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DDE7"/>
                </a:solidFill>
              </a:defRPr>
            </a:pPr>
            <a:r>
              <a:rPr sz="1500" b="1">
                <a:solidFill>
                  <a:srgbClr val="D4DDE7"/>
                </a:solidFill>
              </a:rPr>
              <a:t>Public API · Search · Cache · Community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E8C11-DBEC-4619-A2F4-56A358E3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813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36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403AAB6-CF4F-4BEB-BF72-A7BF702B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A6C9"/>
                </a:solidFill>
              </a:defRPr>
            </a:pPr>
            <a:r>
              <a:rPr sz="1125" b="1">
                <a:solidFill>
                  <a:srgbClr val="0AA6C9"/>
                </a:solidFill>
              </a:rPr>
              <a:t>OPERATIONS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908626D-C2A6-45F4-B086-5A57ECA5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DDE7"/>
                </a:solidFill>
              </a:defRPr>
            </a:pPr>
            <a:r>
              <a:rPr sz="1500" b="1">
                <a:solidFill>
                  <a:srgbClr val="D4DDE7"/>
                </a:solidFill>
              </a:rPr>
              <a:t>AWS · HTTPS · Logs · EAS Release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5C14573-5E97-4407-98A8-0599DFB9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3E6"/>
                </a:solidFill>
              </a:defRPr>
            </a:pPr>
            <a:r>
              <a:rPr sz="1125" b="1">
                <a:solidFill>
                  <a:srgbClr val="1463E6"/>
                </a:solidFill>
              </a:rPr>
              <a:t>핵심 성장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D60B29F-492B-420A-8780-2CD02569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외부 API는 실패한다는 전제 · 의료정보는 보수적으로 표현 · 운영 로그로 실기기 문제를 추적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1D77BD-7001-4751-9CC9-31F951C6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00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A6C9"/>
                </a:solidFill>
              </a:defRPr>
            </a:pPr>
            <a:r>
              <a:rPr sz="900" b="1">
                <a:solidFill>
                  <a:srgbClr val="0AA6C9"/>
                </a:solidFill>
              </a:rPr>
              <a:t>NEXT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B7D3293-E00F-4D80-BCA0-8036332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6D4"/>
                </a:solidFill>
              </a:defRPr>
            </a:pPr>
            <a:r>
              <a:rPr sz="1275" b="0">
                <a:solidFill>
                  <a:srgbClr val="B9C6D4"/>
                </a:solidFill>
              </a:rPr>
              <a:t>AED 공공데이터 연동 검증 → Google Play 정책 제출 → 정식 릴리스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D6038E4-CDFF-414C-AD67-44823437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AA6C9"/>
                </a:solidFill>
              </a:defRPr>
            </a:pPr>
            <a:r>
              <a:rPr sz="750" b="1">
                <a:solidFill>
                  <a:srgbClr val="0AA6C9"/>
                </a:solidFill>
              </a:rPr>
              <a:t>LASTCALL · 18</a:t>
            </a:r>
          </a:p>
        </p:txBody>
      </p:sp>
    </p:spTree>
    <p:extLst>
      <p:ext uri="{BB962C8B-B14F-4D97-AF65-F5344CB8AC3E}">
        <p14:creationId xmlns:p14="http://schemas.microsoft.com/office/powerpoint/2010/main" val="2000227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2026-08-02T23:58:02.9580000Z</dcterms:created>
  <dcterms:modified xsi:type="dcterms:W3CDTF">2026-08-02T23:58:02.9580000Z</dcterms:modified>
</coreProperties>
</file>