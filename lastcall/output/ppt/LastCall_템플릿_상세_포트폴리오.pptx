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c5ee7a3f9448d2" /><Relationship Type="http://schemas.openxmlformats.org/officeDocument/2006/relationships/extended-properties" Target="/docProps/app.xml" Id="R69101795c50249aa" /><Relationship Type="http://schemas.openxmlformats.org/officeDocument/2006/relationships/officeDocument" Target="/ppt/presentation.xml" Id="R49094d04202c484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cf31cc7f8ba4508"/>
  </p:sldMasterIdLst>
  <p:notesMasterIdLst>
    <p:notesMasterId xmlns:r="http://schemas.openxmlformats.org/officeDocument/2006/relationships" r:id="R6f92530966ce4357"/>
  </p:notesMasterIdLst>
  <p:sldIdLst>
    <p:sldId xmlns:r="http://schemas.openxmlformats.org/officeDocument/2006/relationships" id="256" r:id="R58af0fbb75b24ba5"/>
    <p:sldId xmlns:r="http://schemas.openxmlformats.org/officeDocument/2006/relationships" id="257" r:id="Ra90e02cce5124369"/>
    <p:sldId xmlns:r="http://schemas.openxmlformats.org/officeDocument/2006/relationships" id="258" r:id="R3d618d064ce34266"/>
    <p:sldId xmlns:r="http://schemas.openxmlformats.org/officeDocument/2006/relationships" id="259" r:id="R2bc3ee9ae51f4c6b"/>
    <p:sldId xmlns:r="http://schemas.openxmlformats.org/officeDocument/2006/relationships" id="260" r:id="R1d77d9fa9e4a4474"/>
    <p:sldId xmlns:r="http://schemas.openxmlformats.org/officeDocument/2006/relationships" id="261" r:id="R22fe3c0b39f74c85"/>
    <p:sldId xmlns:r="http://schemas.openxmlformats.org/officeDocument/2006/relationships" id="262" r:id="R13616674bb414c67"/>
    <p:sldId xmlns:r="http://schemas.openxmlformats.org/officeDocument/2006/relationships" id="263" r:id="R7d4f8c5d13e14ed7"/>
    <p:sldId xmlns:r="http://schemas.openxmlformats.org/officeDocument/2006/relationships" id="264" r:id="R4e4fcb0238eb4c8c"/>
    <p:sldId xmlns:r="http://schemas.openxmlformats.org/officeDocument/2006/relationships" id="265" r:id="R38f43d0bb8ec4c16"/>
    <p:sldId xmlns:r="http://schemas.openxmlformats.org/officeDocument/2006/relationships" id="266" r:id="R30d3fd57b9834e0c"/>
    <p:sldId xmlns:r="http://schemas.openxmlformats.org/officeDocument/2006/relationships" id="267" r:id="Rc523c0872a7f412d"/>
    <p:sldId xmlns:r="http://schemas.openxmlformats.org/officeDocument/2006/relationships" id="268" r:id="R57570ea7da8246f6"/>
    <p:sldId xmlns:r="http://schemas.openxmlformats.org/officeDocument/2006/relationships" id="269" r:id="Re9b7b27584d24f86"/>
    <p:sldId xmlns:r="http://schemas.openxmlformats.org/officeDocument/2006/relationships" id="270" r:id="R982d2895d4d344d0"/>
    <p:sldId xmlns:r="http://schemas.openxmlformats.org/officeDocument/2006/relationships" id="271" r:id="R8a2cb50da4354815"/>
    <p:sldId xmlns:r="http://schemas.openxmlformats.org/officeDocument/2006/relationships" id="272" r:id="R51b2d0567eb94f90"/>
    <p:sldId xmlns:r="http://schemas.openxmlformats.org/officeDocument/2006/relationships" id="273" r:id="Rbb21506de94f4a88"/>
    <p:sldId xmlns:r="http://schemas.openxmlformats.org/officeDocument/2006/relationships" id="274" r:id="R0e87f03f706c45a3"/>
    <p:sldId xmlns:r="http://schemas.openxmlformats.org/officeDocument/2006/relationships" id="275" r:id="R6685af9eab89446d"/>
    <p:sldId xmlns:r="http://schemas.openxmlformats.org/officeDocument/2006/relationships" id="276" r:id="R0cec8b3d62ac4765"/>
    <p:sldId xmlns:r="http://schemas.openxmlformats.org/officeDocument/2006/relationships" id="277" r:id="Rbed8543a8e974760"/>
    <p:sldId xmlns:r="http://schemas.openxmlformats.org/officeDocument/2006/relationships" id="278" r:id="R7cdb74ba055c4bfe"/>
    <p:sldId xmlns:r="http://schemas.openxmlformats.org/officeDocument/2006/relationships" id="279" r:id="R171b3bdd10e24a0a"/>
  </p:sldIdLst>
  <p:sldSz cx="24384000" cy="13716000"/>
  <p:notesSz cx="6858000" cy="9144000"/>
  <p:embeddedFontLst>
    <p:embeddedFont>
      <p:font typeface="Mr Dafoe Regular"/>
      <p:regular xmlns:r="http://schemas.openxmlformats.org/officeDocument/2006/relationships" r:id="R0065664f5e554501"/>
    </p:embeddedFont>
    <p:embeddedFont>
      <p:font typeface="Pretendard Light"/>
      <p:regular xmlns:r="http://schemas.openxmlformats.org/officeDocument/2006/relationships" r:id="R09dedf5bdc95461e"/>
    </p:embeddedFont>
    <p:embeddedFont>
      <p:font typeface="Pretendard SemiBold"/>
      <p:bold xmlns:r="http://schemas.openxmlformats.org/officeDocument/2006/relationships" r:id="Ra966ba0a7bc64c5b"/>
    </p:embeddedFont>
    <p:embeddedFont>
      <p:font typeface="Pretendard Bold"/>
      <p:bold xmlns:r="http://schemas.openxmlformats.org/officeDocument/2006/relationships" r:id="R7bfe20c7b0ad4dd5"/>
    </p:embeddedFont>
    <p:embeddedFont>
      <p:font typeface="Pretendard Regular"/>
      <p:regular xmlns:r="http://schemas.openxmlformats.org/officeDocument/2006/relationships" r:id="Re87cb5c6272840c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c78e39f06c4943" /><Relationship Type="http://schemas.openxmlformats.org/officeDocument/2006/relationships/slideMaster" Target="/ppt/slideMasters/slideMaster1.xml" Id="R6cf31cc7f8ba4508" /><Relationship Type="http://schemas.openxmlformats.org/officeDocument/2006/relationships/notesMaster" Target="/ppt/notesMasters/notesMaster1.xml" Id="R6f92530966ce4357" /><Relationship Type="http://schemas.openxmlformats.org/officeDocument/2006/relationships/presProps" Target="/ppt/presProps.xml" Id="R225d5606bc3c43c6" /><Relationship Type="http://schemas.openxmlformats.org/officeDocument/2006/relationships/viewProps" Target="/ppt/viewProps.xml" Id="R0a2a7726e9a94c28" /><Relationship Type="http://schemas.openxmlformats.org/officeDocument/2006/relationships/tableStyles" Target="/ppt/tableStyles.xml" Id="R64cf9bd517e84d4b" /><Relationship Type="http://schemas.openxmlformats.org/officeDocument/2006/relationships/font" Target="/ppt/fonts/font.dat" Id="R0065664f5e554501" /><Relationship Type="http://schemas.openxmlformats.org/officeDocument/2006/relationships/font" Target="/ppt/fonts/font2.dat" Id="R09dedf5bdc95461e" /><Relationship Type="http://schemas.openxmlformats.org/officeDocument/2006/relationships/font" Target="/ppt/fonts/font3.dat" Id="Ra966ba0a7bc64c5b" /><Relationship Type="http://schemas.openxmlformats.org/officeDocument/2006/relationships/font" Target="/ppt/fonts/font4.dat" Id="R7bfe20c7b0ad4dd5" /><Relationship Type="http://schemas.openxmlformats.org/officeDocument/2006/relationships/font" Target="/ppt/fonts/font5.dat" Id="Re87cb5c6272840cc" /><Relationship Type="http://schemas.openxmlformats.org/officeDocument/2006/relationships/slide" Target="/ppt/slides/slide1.xml" Id="R58af0fbb75b24ba5" /><Relationship Type="http://schemas.openxmlformats.org/officeDocument/2006/relationships/slide" Target="/ppt/slides/slide2.xml" Id="Ra90e02cce5124369" /><Relationship Type="http://schemas.openxmlformats.org/officeDocument/2006/relationships/slide" Target="/ppt/slides/slide3.xml" Id="R3d618d064ce34266" /><Relationship Type="http://schemas.openxmlformats.org/officeDocument/2006/relationships/slide" Target="/ppt/slides/slide4.xml" Id="R2bc3ee9ae51f4c6b" /><Relationship Type="http://schemas.openxmlformats.org/officeDocument/2006/relationships/slide" Target="/ppt/slides/slide5.xml" Id="R1d77d9fa9e4a4474" /><Relationship Type="http://schemas.openxmlformats.org/officeDocument/2006/relationships/slide" Target="/ppt/slides/slide6.xml" Id="R22fe3c0b39f74c85" /><Relationship Type="http://schemas.openxmlformats.org/officeDocument/2006/relationships/slide" Target="/ppt/slides/slide7.xml" Id="R13616674bb414c67" /><Relationship Type="http://schemas.openxmlformats.org/officeDocument/2006/relationships/slide" Target="/ppt/slides/slide8.xml" Id="R7d4f8c5d13e14ed7" /><Relationship Type="http://schemas.openxmlformats.org/officeDocument/2006/relationships/slide" Target="/ppt/slides/slide9.xml" Id="R4e4fcb0238eb4c8c" /><Relationship Type="http://schemas.openxmlformats.org/officeDocument/2006/relationships/slide" Target="/ppt/slides/slide10.xml" Id="R38f43d0bb8ec4c16" /><Relationship Type="http://schemas.openxmlformats.org/officeDocument/2006/relationships/slide" Target="/ppt/slides/slide11.xml" Id="R30d3fd57b9834e0c" /><Relationship Type="http://schemas.openxmlformats.org/officeDocument/2006/relationships/slide" Target="/ppt/slides/slide12.xml" Id="Rc523c0872a7f412d" /><Relationship Type="http://schemas.openxmlformats.org/officeDocument/2006/relationships/slide" Target="/ppt/slides/slide13.xml" Id="R57570ea7da8246f6" /><Relationship Type="http://schemas.openxmlformats.org/officeDocument/2006/relationships/slide" Target="/ppt/slides/slide14.xml" Id="Re9b7b27584d24f86" /><Relationship Type="http://schemas.openxmlformats.org/officeDocument/2006/relationships/slide" Target="/ppt/slides/slide15.xml" Id="R982d2895d4d344d0" /><Relationship Type="http://schemas.openxmlformats.org/officeDocument/2006/relationships/slide" Target="/ppt/slides/slide16.xml" Id="R8a2cb50da4354815" /><Relationship Type="http://schemas.openxmlformats.org/officeDocument/2006/relationships/slide" Target="/ppt/slides/slide17.xml" Id="R51b2d0567eb94f90" /><Relationship Type="http://schemas.openxmlformats.org/officeDocument/2006/relationships/slide" Target="/ppt/slides/slide18.xml" Id="Rbb21506de94f4a88" /><Relationship Type="http://schemas.openxmlformats.org/officeDocument/2006/relationships/slide" Target="/ppt/slides/slide19.xml" Id="R0e87f03f706c45a3" /><Relationship Type="http://schemas.openxmlformats.org/officeDocument/2006/relationships/slide" Target="/ppt/slides/slide20.xml" Id="R6685af9eab89446d" /><Relationship Type="http://schemas.openxmlformats.org/officeDocument/2006/relationships/slide" Target="/ppt/slides/slide21.xml" Id="R0cec8b3d62ac4765" /><Relationship Type="http://schemas.openxmlformats.org/officeDocument/2006/relationships/slide" Target="/ppt/slides/slide22.xml" Id="Rbed8543a8e974760" /><Relationship Type="http://schemas.openxmlformats.org/officeDocument/2006/relationships/slide" Target="/ppt/slides/slide23.xml" Id="R7cdb74ba055c4bfe" /><Relationship Type="http://schemas.openxmlformats.org/officeDocument/2006/relationships/slide" Target="/ppt/slides/slide24.xml" Id="R171b3bdd10e24a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0cc93735d749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c8f8ab13c94803" /><Relationship Type="http://schemas.openxmlformats.org/officeDocument/2006/relationships/notesMaster" Target="/ppt/notesMasters/notesMaster1.xml" Id="R96b364fc85e04f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a68c2241354b2a" /><Relationship Type="http://schemas.openxmlformats.org/officeDocument/2006/relationships/notesMaster" Target="/ppt/notesMasters/notesMaster1.xml" Id="Ra65cff7aae0d45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4eeed86fe94185" /><Relationship Type="http://schemas.openxmlformats.org/officeDocument/2006/relationships/notesMaster" Target="/ppt/notesMasters/notesMaster1.xml" Id="Rbfaaf56a38794a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a6a8a2f59946d8" /><Relationship Type="http://schemas.openxmlformats.org/officeDocument/2006/relationships/notesMaster" Target="/ppt/notesMasters/notesMaster1.xml" Id="R577745814a8947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ca6a99e5a64a96" /><Relationship Type="http://schemas.openxmlformats.org/officeDocument/2006/relationships/notesMaster" Target="/ppt/notesMasters/notesMaster1.xml" Id="R402591790c2543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399a54f8784e44" /><Relationship Type="http://schemas.openxmlformats.org/officeDocument/2006/relationships/notesMaster" Target="/ppt/notesMasters/notesMaster1.xml" Id="R62fe8dedf9654d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0b5208a7ef4825" /><Relationship Type="http://schemas.openxmlformats.org/officeDocument/2006/relationships/notesMaster" Target="/ppt/notesMasters/notesMaster1.xml" Id="Rc3c9a9effc6a45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32b789432040ae" /><Relationship Type="http://schemas.openxmlformats.org/officeDocument/2006/relationships/notesMaster" Target="/ppt/notesMasters/notesMaster1.xml" Id="R2997efc99b6048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3993d0fc5e4dae" /><Relationship Type="http://schemas.openxmlformats.org/officeDocument/2006/relationships/notesMaster" Target="/ppt/notesMasters/notesMaster1.xml" Id="R26c88c2897a84c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38a0b614f946e5" /><Relationship Type="http://schemas.openxmlformats.org/officeDocument/2006/relationships/notesMaster" Target="/ppt/notesMasters/notesMaster1.xml" Id="R0b72fd0d10c345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ee118b221a4a2e" /><Relationship Type="http://schemas.openxmlformats.org/officeDocument/2006/relationships/notesMaster" Target="/ppt/notesMasters/notesMaster1.xml" Id="R0b863795b70a42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de6bb4476e4f5f" /><Relationship Type="http://schemas.openxmlformats.org/officeDocument/2006/relationships/notesMaster" Target="/ppt/notesMasters/notesMaster1.xml" Id="R6ce417c385944c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f40592acbad4f77" /><Relationship Type="http://schemas.openxmlformats.org/officeDocument/2006/relationships/notesMaster" Target="/ppt/notesMasters/notesMaster1.xml" Id="Rc11e1f2ed97d442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2201059f124bbf" /><Relationship Type="http://schemas.openxmlformats.org/officeDocument/2006/relationships/notesMaster" Target="/ppt/notesMasters/notesMaster1.xml" Id="Rd89772d542fe467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1ddfb09b68f475d" /><Relationship Type="http://schemas.openxmlformats.org/officeDocument/2006/relationships/notesMaster" Target="/ppt/notesMasters/notesMaster1.xml" Id="R75931c6d522840f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cdbfda61ac8479a" /><Relationship Type="http://schemas.openxmlformats.org/officeDocument/2006/relationships/notesMaster" Target="/ppt/notesMasters/notesMaster1.xml" Id="R84c2919beab3474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7dbde311371482b" /><Relationship Type="http://schemas.openxmlformats.org/officeDocument/2006/relationships/notesMaster" Target="/ppt/notesMasters/notesMaster1.xml" Id="R9d232ae5401f4cd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6e604a50db04625" /><Relationship Type="http://schemas.openxmlformats.org/officeDocument/2006/relationships/notesMaster" Target="/ppt/notesMasters/notesMaster1.xml" Id="Rcd13ee62d58b4bc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9a5f5aeabfd49da" /><Relationship Type="http://schemas.openxmlformats.org/officeDocument/2006/relationships/notesMaster" Target="/ppt/notesMasters/notesMaster1.xml" Id="R9d966e40a13b419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11cb09e195846a1" /><Relationship Type="http://schemas.openxmlformats.org/officeDocument/2006/relationships/notesMaster" Target="/ppt/notesMasters/notesMaster1.xml" Id="R9d364b41d8fe4e6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28f398a7c924700" /><Relationship Type="http://schemas.openxmlformats.org/officeDocument/2006/relationships/notesMaster" Target="/ppt/notesMasters/notesMaster1.xml" Id="Re2769e285c4d4f2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846d8b0d1704349" /><Relationship Type="http://schemas.openxmlformats.org/officeDocument/2006/relationships/notesMaster" Target="/ppt/notesMasters/notesMaster1.xml" Id="R8635984d3ede49e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afd3feb596e4727" /><Relationship Type="http://schemas.openxmlformats.org/officeDocument/2006/relationships/notesMaster" Target="/ppt/notesMasters/notesMaster1.xml" Id="Rbad69b11691f435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f0f58a86c7a4b30" /><Relationship Type="http://schemas.openxmlformats.org/officeDocument/2006/relationships/notesMaster" Target="/ppt/notesMasters/notesMaster1.xml" Id="R0f8ccb24cbc643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C:/project/lastcall/README.md</a:t>
            </a:r>
          </a:p>
          <a:p xmlns:a="http://schemas.openxmlformats.org/drawingml/2006/main">
            <a:r>
              <a:t>- C:/project/lastcall/WORK_PROGRESS.md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C:/project/lastcall/README.md</a:t>
            </a:r>
          </a:p>
          <a:p xmlns:a="http://schemas.openxmlformats.org/drawingml/2006/main">
            <a:r>
              <a:t>- C:/project/lastcall/WORK_PROGRESS.md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C:/project/lastcall/README.md</a:t>
            </a:r>
          </a:p>
          <a:p xmlns:a="http://schemas.openxmlformats.org/drawingml/2006/main">
            <a:r>
              <a:t>- C:/project/lastcall/WORK_PROGRESS.md</a:t>
            </a:r>
          </a:p>
          <a:p xmlns:a="http://schemas.openxmlformats.org/drawingml/2006/main">
            <a:r>
              <a:t>- C:/project/lastcall/lastcall-app-sdk54/app.json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C:/project/lastcall/README.md</a:t>
            </a:r>
          </a:p>
          <a:p xmlns:a="http://schemas.openxmlformats.org/drawingml/2006/main">
            <a:r>
              <a:t>- C:/project/lastcall/lastcall-app-sdk54/src/app/(tabs)/index.tsx</a:t>
            </a:r>
          </a:p>
          <a:p xmlns:a="http://schemas.openxmlformats.org/drawingml/2006/main">
            <a:r>
              <a:t>- C:/project/lastcall/lastcall-app-sdk54/src/app/hospitals.tsx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C:/project/lastcall/README.md</a:t>
            </a:r>
          </a:p>
          <a:p xmlns:a="http://schemas.openxmlformats.org/drawingml/2006/main">
            <a:r>
              <a:t>- C:/project/lastcall/lastcall-app-sdk54/src/app</a:t>
            </a:r>
          </a:p>
          <a:p xmlns:a="http://schemas.openxmlformats.org/drawingml/2006/main">
            <a:r>
              <a:t>- C:/project/lastcall/lastcall-server/src/main/java/com/lastcall/controller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C:/project/lastcall/lastcall-app-sdk54/src/components/initial-consent.tsx</a:t>
            </a:r>
          </a:p>
          <a:p xmlns:a="http://schemas.openxmlformats.org/drawingml/2006/main">
            <a:r>
              <a:t>- C:/project/lastcall/lastcall-app-sdk54/src/app/filter.tsx</a:t>
            </a:r>
          </a:p>
          <a:p xmlns:a="http://schemas.openxmlformats.org/drawingml/2006/main">
            <a:r>
              <a:t>- C:/project/lastcall/lastcall-app-sdk54/src/app/hospitals.tsx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C:/project/lastcall/lastcall-app-sdk54/src/app/(tabs)/index.tsx</a:t>
            </a:r>
          </a:p>
          <a:p xmlns:a="http://schemas.openxmlformats.org/drawingml/2006/main">
            <a:r>
              <a:t>- C:/project/lastcall/lastcall-app-sdk54/src/services/location.ts</a:t>
            </a:r>
          </a:p>
          <a:p xmlns:a="http://schemas.openxmlformats.org/drawingml/2006/main">
            <a:r>
              <a:t>- C:/project/lastcall/lastcall-app-sdk54/src/config/api.ts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C:/project/lastcall/lastcall-app-sdk54/src/app/filter.tsx</a:t>
            </a:r>
          </a:p>
          <a:p xmlns:a="http://schemas.openxmlformats.org/drawingml/2006/main">
            <a:r>
              <a:t>- C:/project/lastcall/lastcall-app-sdk54/src/app/hospitals.tsx</a:t>
            </a:r>
          </a:p>
          <a:p xmlns:a="http://schemas.openxmlformats.org/drawingml/2006/main">
            <a:r>
              <a:t>- C:/project/lastcall/lastcall-server/src/main/java/com/lastcall/controller/EmergencyController.java</a:t>
            </a:r>
          </a:p>
          <a:p xmlns:a="http://schemas.openxmlformats.org/drawingml/2006/main">
            <a:r>
              <a:t>- C:/project/lastcall/lastcall-server/src/main/java/com/lastcall/service/EmergencyService.java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C:/project/lastcall/lastcall-app-sdk54/src/components/map-screen.native.tsx</a:t>
            </a:r>
          </a:p>
          <a:p xmlns:a="http://schemas.openxmlformats.org/drawingml/2006/main">
            <a:r>
              <a:t>- C:/project/lastcall/lastcall-app-sdk54/src/components/map-screen.web.tsx</a:t>
            </a:r>
          </a:p>
          <a:p xmlns:a="http://schemas.openxmlformats.org/drawingml/2006/main">
            <a:r>
              <a:t>- C:/project/lastcall/lastcall-app-sdk54/app.json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C:/project/lastcall/lastcall-app-sdk54/src/app/(tabs)/my-info.tsx</a:t>
            </a:r>
          </a:p>
          <a:p xmlns:a="http://schemas.openxmlformats.org/drawingml/2006/main">
            <a:r>
              <a:t>- C:/project/lastcall/lastcall-app-sdk54/src/services/medical-info-storage.ts</a:t>
            </a:r>
          </a:p>
          <a:p xmlns:a="http://schemas.openxmlformats.org/drawingml/2006/main">
            <a:r>
              <a:t>- C:/project/lastcall/lastcall-app-sdk54/src/services/location.ts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C:/project/lastcall/lastcall-app-sdk54/src/app/community-board.tsx</a:t>
            </a:r>
          </a:p>
          <a:p xmlns:a="http://schemas.openxmlformats.org/drawingml/2006/main">
            <a:r>
              <a:t>- C:/project/lastcall/lastcall-app-sdk54/src/app/community-detail.tsx</a:t>
            </a:r>
          </a:p>
          <a:p xmlns:a="http://schemas.openxmlformats.org/drawingml/2006/main">
            <a:r>
              <a:t>- C:/project/lastcall/lastcall-server/src/main/java/com/lastcall/service/CommunityService.java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C:/project/lastcall/lastcall-app-sdk54/src/app/aed.tsx</a:t>
            </a:r>
          </a:p>
          <a:p xmlns:a="http://schemas.openxmlformats.org/drawingml/2006/main">
            <a:r>
              <a:t>- C:/project/lastcall/lastcall-app-sdk54/src/app/emergency-help.tsx</a:t>
            </a:r>
          </a:p>
          <a:p xmlns:a="http://schemas.openxmlformats.org/drawingml/2006/main">
            <a:r>
              <a:t>- C:/project/lastcall/WORK_PROGRESS.md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C:/project/lastcall/lastcall-app-sdk54/src/app/(tabs)/favorites.tsx</a:t>
            </a:r>
          </a:p>
          <a:p xmlns:a="http://schemas.openxmlformats.org/drawingml/2006/main">
            <a:r>
              <a:t>- C:/project/lastcall/lastcall-app-sdk54/src/app/emergency-help.tsx</a:t>
            </a:r>
          </a:p>
          <a:p xmlns:a="http://schemas.openxmlformats.org/drawingml/2006/main">
            <a:r>
              <a:t>- C:/project/lastcall/test-screenshots/favorites-web.png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C:/project/lastcall/README.md</a:t>
            </a:r>
          </a:p>
          <a:p xmlns:a="http://schemas.openxmlformats.org/drawingml/2006/main">
            <a:r>
              <a:t>- C:/project/lastcall/lastcall-app-sdk54/package.json</a:t>
            </a:r>
          </a:p>
          <a:p xmlns:a="http://schemas.openxmlformats.org/drawingml/2006/main">
            <a:r>
              <a:t>- C:/project/lastcall/lastcall-server/pom.xml</a:t>
            </a:r>
          </a:p>
          <a:p xmlns:a="http://schemas.openxmlformats.org/drawingml/2006/main">
            <a:r>
              <a:t>- C:/project/lastcall/ops/nginx/lastcall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C:/project/lastcall/lastcall-server/src/main/java/com/lastcall/service/EmergencyService.java</a:t>
            </a:r>
          </a:p>
          <a:p xmlns:a="http://schemas.openxmlformats.org/drawingml/2006/main">
            <a:r>
              <a:t>- C:/project/lastcall/lastcall-server/src/main/java/com/lastcall/dto/EmergencyDto.java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C:/project/lastcall/lastcall-app-sdk54/src/app/filter.tsx</a:t>
            </a:r>
          </a:p>
          <a:p xmlns:a="http://schemas.openxmlformats.org/drawingml/2006/main">
            <a:r>
              <a:t>- C:/project/lastcall/lastcall-server/src/main/java/com/lastcall/controller/EmergencyController.java</a:t>
            </a:r>
          </a:p>
          <a:p xmlns:a="http://schemas.openxmlformats.org/drawingml/2006/main">
            <a:r>
              <a:t>- C:/project/lastcall/lastcall-server/src/main/java/com/lastcall/service/EmergencyService.java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C:/project/lastcall/lastcall-app-sdk54/package.json</a:t>
            </a:r>
          </a:p>
          <a:p xmlns:a="http://schemas.openxmlformats.org/drawingml/2006/main">
            <a:r>
              <a:t>- C:/project/lastcall/lastcall-server/pom.xml</a:t>
            </a:r>
          </a:p>
          <a:p xmlns:a="http://schemas.openxmlformats.org/drawingml/2006/main">
            <a:r>
              <a:t>- C:/project/lastcall/lastcall-app-sdk54/eas.json</a:t>
            </a:r>
          </a:p>
          <a:p xmlns:a="http://schemas.openxmlformats.org/drawingml/2006/main">
            <a:r>
              <a:t>- C:/project/lastcall/ops/nginx/lastcall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C:/project/lastcall/lastcall-server/src/main/java/com/lastcall/config/EmergencyRateLimitInterceptor.java</a:t>
            </a:r>
          </a:p>
          <a:p xmlns:a="http://schemas.openxmlformats.org/drawingml/2006/main">
            <a:r>
              <a:t>- C:/project/lastcall/lastcall-server/src/main/java/com/lastcall/config/CommunityRateLimitInterceptor.java</a:t>
            </a:r>
          </a:p>
          <a:p xmlns:a="http://schemas.openxmlformats.org/drawingml/2006/main">
            <a:r>
              <a:t>- C:/project/lastcall/ops/nginx/lastcall-log.conf</a:t>
            </a:r>
          </a:p>
          <a:p xmlns:a="http://schemas.openxmlformats.org/drawingml/2006/main">
            <a:r>
              <a:t>- C:/project/lastcall/ops/nginx/lastcall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C:/project/lastcall/README.md</a:t>
            </a:r>
          </a:p>
          <a:p xmlns:a="http://schemas.openxmlformats.org/drawingml/2006/main">
            <a:r>
              <a:t>- C:/project/lastcall/LOCAL_RUN.md</a:t>
            </a:r>
          </a:p>
          <a:p xmlns:a="http://schemas.openxmlformats.org/drawingml/2006/main">
            <a:r>
              <a:t>- C:/project/lastcall/lastcall-app-sdk54/eas.json</a:t>
            </a:r>
          </a:p>
          <a:p xmlns:a="http://schemas.openxmlformats.org/drawingml/2006/main">
            <a:r>
              <a:t>- C:/project/lastcall/ops/nginx/lastcall</a:t>
            </a:r>
          </a:p>
          <a:p xmlns:a="http://schemas.openxmlformats.org/drawingml/2006/main">
            <a:r>
              <a:t>- C:/project/lastcall/WORK_PROGRESS.md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C:/project/lastcall/WORK_PROGRESS.md</a:t>
            </a:r>
          </a:p>
          <a:p xmlns:a="http://schemas.openxmlformats.org/drawingml/2006/main">
            <a:r>
              <a:t>- C:/project/lastcall/lastcall-app-sdk54/src/components/map-screen.native.tsx</a:t>
            </a:r>
          </a:p>
          <a:p xmlns:a="http://schemas.openxmlformats.org/drawingml/2006/main">
            <a:r>
              <a:t>- C:/project/lastcall/lastcall-app-sdk54/src/components/map-screen.web.tsx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C:/project/lastcall/WORK_PROGRESS.md</a:t>
            </a:r>
          </a:p>
          <a:p xmlns:a="http://schemas.openxmlformats.org/drawingml/2006/main">
            <a:r>
              <a:t>- C:/project/lastcall/lastcall-app-sdk54/src/services/community.ts</a:t>
            </a:r>
          </a:p>
          <a:p xmlns:a="http://schemas.openxmlformats.org/drawingml/2006/main">
            <a:r>
              <a:t>- C:/project/lastcall/lastcall-app-sdk54/src/app/community-board.tsx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C:/project/lastcall/WORK_PROGRESS.md</a:t>
            </a:r>
          </a:p>
          <a:p xmlns:a="http://schemas.openxmlformats.org/drawingml/2006/main">
            <a:r>
              <a:t>- C:/project/lastcall/lastcall-server/src/main/java/com/lastcall/controller/ApiExceptionHandler.java</a:t>
            </a:r>
          </a:p>
          <a:p xmlns:a="http://schemas.openxmlformats.org/drawingml/2006/main">
            <a:r>
              <a:t>- C:/project/lastcall/lastcall-server/src/test/java/com/lastcall/controller/ApiExceptionHandlerTests.java</a:t>
            </a:r>
          </a:p>
          <a:p xmlns:a="http://schemas.openxmlformats.org/drawingml/2006/main">
            <a:r>
              <a:t>- C:/project/lastcall/ops/nginx/lastcall-log.conf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C:/project/lastcall/WORK_PROGRESS.md</a:t>
            </a:r>
          </a:p>
          <a:p xmlns:a="http://schemas.openxmlformats.org/drawingml/2006/main">
            <a:r>
              <a:t>- C:/project/lastcall/lastcall-server/src/test/java</a:t>
            </a:r>
          </a:p>
          <a:p xmlns:a="http://schemas.openxmlformats.org/drawingml/2006/main">
            <a:r>
              <a:t>- C:/project/lastcall/README.md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C:/project/lastcall/README.md</a:t>
            </a:r>
          </a:p>
          <a:p xmlns:a="http://schemas.openxmlformats.org/drawingml/2006/main">
            <a:r>
              <a:t>- C:/project/lastcall/WORK_PROGRESS.md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80487da5da4e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2b363d72a40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66956a08424f9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b965de382646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13cfa2812946b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ff9112da7432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25641b211b49e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8a1486a7cf4cb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bc1263c86a4a7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33270547954d2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8748845cc34be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9B122F-E9E3-4990-8521-DA4BD3F7203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2CDC065-3B19-4F0D-8170-77D7794F40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65EEAD0-ED4F-474E-8ED4-25A7F4F5FD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AE81F3-1E77-4471-BC67-E9C53A758D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5824BC7-3AE5-4B8B-83CF-312E0F4F96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A7F18E-9EA7-481F-B13F-2E56244A1C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14A5B96-D59F-47B5-9182-DB5C05ADDC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C08D4CC-DD05-47C1-91AC-6424C3C1C1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653F0BA-1530-4538-9820-DC8A818B10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D057CB-2492-4932-8358-0F5281BBA9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B592D4-D329-4731-9AE6-9F2C30B899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76FAFBC-69E3-412B-94E8-8FBB9BB62F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7E15C28-3287-488A-A1C2-5696E1628C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4A50DE7-7CF0-40FD-8B57-CEB019879C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C5A089-5963-4382-BA79-AC3263B221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677220-2F76-4FA9-9449-2D09812DB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F78F9F0-5967-4074-8BED-59AB793A746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2C6BB03-2928-4BB4-B98F-FC4AFCBCC9E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63EC19E-45DC-4183-8795-E0814AB536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E51955D-FA4E-4B40-BB60-3AEC8E1E3A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6DF194B-BFC9-4E1E-A5E5-A0DE76786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3BCD6F-C68B-46FE-94FC-3ABB264100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A2402C-BF0D-4C23-B6AA-FB431C21EC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62A7207-F140-40A2-8A46-C1671EA75B8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8EB7E7D-A3C2-4F7D-A3B9-933F81727E8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DED9DBA-E32E-4F46-A55A-FDF491C22AA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DFF1065-9D94-4679-89B2-4B1B56153D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97CA84F-8A30-4891-BD76-5B94E333EE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DA9A7CF-DB36-4AC4-83E9-136F71B0B4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78AC4E-C264-4746-8C9E-201594C8CC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DD9AA69-7B07-4DF9-8AB2-60723616AB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B01CF18-24D9-4315-9965-8CD73809B4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1ADA5D3-377A-4A90-8DD7-A952CC888E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7A4C037-EC50-4186-8D71-2C520D56E1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CD9B896-DC23-4E1C-BB18-752272E767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E5F3F0D-26F9-48C1-9429-4AD1CAFD78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90FA640-59D6-4CDA-9344-E500B97A2D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A465CB3-92DB-4292-9624-0B6A36B2EA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EAD64F4-4998-4B98-BCDD-803BE34694F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E89D32F-DD9F-43A7-83BA-2593AB105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D34D538-FAAD-4EA1-AF36-21A5319E16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BBD06B0-7C53-4BF9-946D-B561BECF50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B744A30-E3C4-4BFD-AE49-743A32F05C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26E4D46-C4DB-4931-AFE2-C7443D38BBA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B70310F-2EC1-4101-811D-B800ECAF7E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83AF21A-9487-4F6C-99D8-53779DA572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5669869-279D-4832-A0EE-46EB2CFCEF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A32C472-50A2-491C-A0E2-CD95317E5E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DF5FAE-0491-4261-AE50-BF45325C64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151ABAC-9B20-4285-8048-E866C57CB9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D3DC73B-F734-4177-BE5B-401DC1D8E8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67D7C90-0FD9-42D0-BA14-9A32146D15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74DB39-6E4B-46AF-97A7-D3F462E0C7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3AC129A-BC08-48F2-B46A-51DA39544D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E592928-6297-4529-8ADA-1B3373C106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D00BFE6-8233-42AC-9163-67E93645D5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D68CCF-CB1B-4983-9AB7-C0A500156C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C20BE3-9BAA-4CBC-BE7B-50DA78BAC3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61ae9e73ce488b" /><Relationship Type="http://schemas.openxmlformats.org/officeDocument/2006/relationships/slideLayout" Target="/ppt/slideLayouts/slideLayout1.xml" Id="R48cbc9ee3b3e42dd" /><Relationship Type="http://schemas.openxmlformats.org/officeDocument/2006/relationships/slideLayout" Target="/ppt/slideLayouts/slideLayout2.xml" Id="Rb00502375832404d" /><Relationship Type="http://schemas.openxmlformats.org/officeDocument/2006/relationships/slideLayout" Target="/ppt/slideLayouts/slideLayout3.xml" Id="R206dab47b5e14638" /><Relationship Type="http://schemas.openxmlformats.org/officeDocument/2006/relationships/slideLayout" Target="/ppt/slideLayouts/slideLayout4.xml" Id="R47a74b87af844e73" /><Relationship Type="http://schemas.openxmlformats.org/officeDocument/2006/relationships/slideLayout" Target="/ppt/slideLayouts/slideLayout5.xml" Id="R120a49b316fe4f20" /><Relationship Type="http://schemas.openxmlformats.org/officeDocument/2006/relationships/slideLayout" Target="/ppt/slideLayouts/slideLayout6.xml" Id="Rdc09e18bb8154183" /><Relationship Type="http://schemas.openxmlformats.org/officeDocument/2006/relationships/slideLayout" Target="/ppt/slideLayouts/slideLayout7.xml" Id="Rd6b7a279845f440b" /><Relationship Type="http://schemas.openxmlformats.org/officeDocument/2006/relationships/slideLayout" Target="/ppt/slideLayouts/slideLayout8.xml" Id="R0b9386e0adf14c29" /><Relationship Type="http://schemas.openxmlformats.org/officeDocument/2006/relationships/slideLayout" Target="/ppt/slideLayouts/slideLayout9.xml" Id="R87d492f85ec34fcc" /><Relationship Type="http://schemas.openxmlformats.org/officeDocument/2006/relationships/slideLayout" Target="/ppt/slideLayouts/slideLayout10.xml" Id="R0b6ed40b19d446ee" /><Relationship Type="http://schemas.openxmlformats.org/officeDocument/2006/relationships/slideLayout" Target="/ppt/slideLayouts/slideLayout11.xml" Id="Red89df22117443f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A2B8364-8C5E-497F-B942-89EB05A423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E2DB16-D943-4415-B181-CE73B44639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E4B1DB9-917A-4120-A4C3-F2B1C8011E3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605F0D-4A85-4E26-909A-73607FE9135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0647001-D791-45C6-B125-D4839463622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cbc9ee3b3e42dd"/>
    <p:sldLayoutId xmlns:r="http://schemas.openxmlformats.org/officeDocument/2006/relationships" id="2147483650" r:id="Rb00502375832404d"/>
    <p:sldLayoutId xmlns:r="http://schemas.openxmlformats.org/officeDocument/2006/relationships" id="2147483651" r:id="R206dab47b5e14638"/>
    <p:sldLayoutId xmlns:r="http://schemas.openxmlformats.org/officeDocument/2006/relationships" id="2147483652" r:id="R47a74b87af844e73"/>
    <p:sldLayoutId xmlns:r="http://schemas.openxmlformats.org/officeDocument/2006/relationships" id="2147483653" r:id="R120a49b316fe4f20"/>
    <p:sldLayoutId xmlns:r="http://schemas.openxmlformats.org/officeDocument/2006/relationships" id="2147483654" r:id="Rdc09e18bb8154183"/>
    <p:sldLayoutId xmlns:r="http://schemas.openxmlformats.org/officeDocument/2006/relationships" id="2147483655" r:id="Rd6b7a279845f440b"/>
    <p:sldLayoutId xmlns:r="http://schemas.openxmlformats.org/officeDocument/2006/relationships" id="2147483656" r:id="R0b9386e0adf14c29"/>
    <p:sldLayoutId xmlns:r="http://schemas.openxmlformats.org/officeDocument/2006/relationships" id="2147483657" r:id="R87d492f85ec34fcc"/>
    <p:sldLayoutId xmlns:r="http://schemas.openxmlformats.org/officeDocument/2006/relationships" id="2147483658" r:id="R0b6ed40b19d446ee"/>
    <p:sldLayoutId xmlns:r="http://schemas.openxmlformats.org/officeDocument/2006/relationships" id="2147483659" r:id="Red89df22117443ff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1cfa9c9ccd4b9c" /><Relationship Type="http://schemas.openxmlformats.org/officeDocument/2006/relationships/image" Target="/ppt/media/image.png" Id="R924b9c06ba8144b3" /><Relationship Type="http://schemas.openxmlformats.org/officeDocument/2006/relationships/image" Target="/ppt/media/image2.png" Id="R732d71a823604b90" /><Relationship Type="http://schemas.openxmlformats.org/officeDocument/2006/relationships/image" Target="/ppt/media/image3.png" Id="Rf59534061ac7458e" /><Relationship Type="http://schemas.openxmlformats.org/officeDocument/2006/relationships/image" Target="/ppt/media/image4.png" Id="R83c9411542154fbf" /><Relationship Type="http://schemas.openxmlformats.org/officeDocument/2006/relationships/notesSlide" Target="/ppt/notesSlides/notesSlide1.xml" Id="Rc84a46f094c540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05076d792204aab" /><Relationship Type="http://schemas.openxmlformats.org/officeDocument/2006/relationships/image" Target="/ppt/media/image.png" Id="R89350d0325d845ee" /><Relationship Type="http://schemas.openxmlformats.org/officeDocument/2006/relationships/image" Target="/ppt/media/image5.png" Id="Reae3810bac6244e2" /><Relationship Type="http://schemas.openxmlformats.org/officeDocument/2006/relationships/image" Target="/ppt/media/image3.png" Id="Rf9c315284f3e4809" /><Relationship Type="http://schemas.openxmlformats.org/officeDocument/2006/relationships/image" Target="/ppt/media/image6.png" Id="R4edfcfeba1c64c4c" /><Relationship Type="http://schemas.openxmlformats.org/officeDocument/2006/relationships/notesSlide" Target="/ppt/notesSlides/notesSlide2.xml" Id="Rde7399eaf28049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c18f5452ef4479" /><Relationship Type="http://schemas.openxmlformats.org/officeDocument/2006/relationships/image" Target="/ppt/media/image.png" Id="Rb17b5cb322074c68" /><Relationship Type="http://schemas.openxmlformats.org/officeDocument/2006/relationships/image" Target="/ppt/media/image5.png" Id="Recdb2cb8615f4d67" /><Relationship Type="http://schemas.openxmlformats.org/officeDocument/2006/relationships/image" Target="/ppt/media/image7.png" Id="R84c097538068460d" /><Relationship Type="http://schemas.openxmlformats.org/officeDocument/2006/relationships/image" Target="/ppt/media/image3.png" Id="R0e09c1c800d24631" /><Relationship Type="http://schemas.openxmlformats.org/officeDocument/2006/relationships/image" Target="/ppt/media/image8.png" Id="R2cccff156dff416b" /><Relationship Type="http://schemas.openxmlformats.org/officeDocument/2006/relationships/image" Target="/ppt/media/image9.png" Id="R180de938a2b94908" /><Relationship Type="http://schemas.openxmlformats.org/officeDocument/2006/relationships/image" Target="/ppt/media/image10.png" Id="Rd05a4c786519479e" /><Relationship Type="http://schemas.openxmlformats.org/officeDocument/2006/relationships/image" Target="/ppt/media/image11.png" Id="Rfa786efd45434382" /><Relationship Type="http://schemas.openxmlformats.org/officeDocument/2006/relationships/image" Target="/ppt/media/image12.png" Id="R694093e30a464d2b" /><Relationship Type="http://schemas.openxmlformats.org/officeDocument/2006/relationships/image" Target="/ppt/media/image13.png" Id="Rcdd9e5ee2a394bb0" /><Relationship Type="http://schemas.openxmlformats.org/officeDocument/2006/relationships/notesSlide" Target="/ppt/notesSlides/notesSlide3.xml" Id="R68d1ca962be04d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137a7807424124" /><Relationship Type="http://schemas.openxmlformats.org/officeDocument/2006/relationships/image" Target="/ppt/media/image.png" Id="Re4adb3af8b534330" /><Relationship Type="http://schemas.openxmlformats.org/officeDocument/2006/relationships/image" Target="/ppt/media/image5.png" Id="R6353d24e8a04492a" /><Relationship Type="http://schemas.openxmlformats.org/officeDocument/2006/relationships/image" Target="/ppt/media/image7.png" Id="R08d8e1a142574404" /><Relationship Type="http://schemas.openxmlformats.org/officeDocument/2006/relationships/image" Target="/ppt/media/image3.png" Id="Rdeea95ecd89a44ad" /><Relationship Type="http://schemas.openxmlformats.org/officeDocument/2006/relationships/image" Target="/ppt/media/image8.png" Id="R960aaf7d302b4b20" /><Relationship Type="http://schemas.openxmlformats.org/officeDocument/2006/relationships/image" Target="/ppt/media/image9.png" Id="R141d15b83dc241ac" /><Relationship Type="http://schemas.openxmlformats.org/officeDocument/2006/relationships/image" Target="/ppt/media/image10.png" Id="R8640535ef92845bc" /><Relationship Type="http://schemas.openxmlformats.org/officeDocument/2006/relationships/image" Target="/ppt/media/image11.png" Id="R7194d607450b4bfa" /><Relationship Type="http://schemas.openxmlformats.org/officeDocument/2006/relationships/image" Target="/ppt/media/image12.png" Id="R0817e30a45d44bfb" /><Relationship Type="http://schemas.openxmlformats.org/officeDocument/2006/relationships/image" Target="/ppt/media/image13.png" Id="R035a673bfe58409b" /><Relationship Type="http://schemas.openxmlformats.org/officeDocument/2006/relationships/notesSlide" Target="/ppt/notesSlides/notesSlide4.xml" Id="R75c3fa70c87442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afae5b18f04382" /><Relationship Type="http://schemas.openxmlformats.org/officeDocument/2006/relationships/image" Target="/ppt/media/image.png" Id="Re84b71d5203b42e1" /><Relationship Type="http://schemas.openxmlformats.org/officeDocument/2006/relationships/image" Target="/ppt/media/image5.png" Id="R57242096eecf482d" /><Relationship Type="http://schemas.openxmlformats.org/officeDocument/2006/relationships/image" Target="/ppt/media/image7.png" Id="Rcdb40e9646504626" /><Relationship Type="http://schemas.openxmlformats.org/officeDocument/2006/relationships/image" Target="/ppt/media/image3.png" Id="R6795549c385b496d" /><Relationship Type="http://schemas.openxmlformats.org/officeDocument/2006/relationships/image" Target="/ppt/media/image8.png" Id="R92744d318a5849a0" /><Relationship Type="http://schemas.openxmlformats.org/officeDocument/2006/relationships/image" Target="/ppt/media/image9.png" Id="R316429e38aa44836" /><Relationship Type="http://schemas.openxmlformats.org/officeDocument/2006/relationships/image" Target="/ppt/media/image10.png" Id="Rdf860cc57ab34a24" /><Relationship Type="http://schemas.openxmlformats.org/officeDocument/2006/relationships/image" Target="/ppt/media/image11.png" Id="R0c98f97fcba14e58" /><Relationship Type="http://schemas.openxmlformats.org/officeDocument/2006/relationships/image" Target="/ppt/media/image12.png" Id="R06e5afb3da3d48f2" /><Relationship Type="http://schemas.openxmlformats.org/officeDocument/2006/relationships/image" Target="/ppt/media/image13.png" Id="R807167a101064f88" /><Relationship Type="http://schemas.openxmlformats.org/officeDocument/2006/relationships/notesSlide" Target="/ppt/notesSlides/notesSlide5.xml" Id="R2a5d5e10519e4e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25a7872e06a4725" /><Relationship Type="http://schemas.openxmlformats.org/officeDocument/2006/relationships/image" Target="/ppt/media/image.png" Id="R2a6fb9e5762249c3" /><Relationship Type="http://schemas.openxmlformats.org/officeDocument/2006/relationships/image" Target="/ppt/media/image5.png" Id="Re2ee9b2dd8fd4fcb" /><Relationship Type="http://schemas.openxmlformats.org/officeDocument/2006/relationships/image" Target="/ppt/media/image7.png" Id="R93a00726457c4a01" /><Relationship Type="http://schemas.openxmlformats.org/officeDocument/2006/relationships/image" Target="/ppt/media/image3.png" Id="Rc94fbbaeef3e4ecd" /><Relationship Type="http://schemas.openxmlformats.org/officeDocument/2006/relationships/image" Target="/ppt/media/image8.png" Id="R77bac795540e406a" /><Relationship Type="http://schemas.openxmlformats.org/officeDocument/2006/relationships/image" Target="/ppt/media/image9.png" Id="R205e4ffcfec7445c" /><Relationship Type="http://schemas.openxmlformats.org/officeDocument/2006/relationships/image" Target="/ppt/media/image10.png" Id="R863d05fc73dc4c19" /><Relationship Type="http://schemas.openxmlformats.org/officeDocument/2006/relationships/image" Target="/ppt/media/image11.png" Id="Rd950eeef8cc141ce" /><Relationship Type="http://schemas.openxmlformats.org/officeDocument/2006/relationships/image" Target="/ppt/media/image12.png" Id="R958801086bbe42a1" /><Relationship Type="http://schemas.openxmlformats.org/officeDocument/2006/relationships/image" Target="/ppt/media/image13.png" Id="Rdf64abcd2a8e4aa0" /><Relationship Type="http://schemas.openxmlformats.org/officeDocument/2006/relationships/notesSlide" Target="/ppt/notesSlides/notesSlide6.xml" Id="R1ca10bced5c14f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69c78b1f194d51" /><Relationship Type="http://schemas.openxmlformats.org/officeDocument/2006/relationships/image" Target="/ppt/media/image.png" Id="R2446f79980014527" /><Relationship Type="http://schemas.openxmlformats.org/officeDocument/2006/relationships/image" Target="/ppt/media/image5.png" Id="R6b3adde8df874090" /><Relationship Type="http://schemas.openxmlformats.org/officeDocument/2006/relationships/image" Target="/ppt/media/image7.png" Id="R4b47a8860f224e4e" /><Relationship Type="http://schemas.openxmlformats.org/officeDocument/2006/relationships/image" Target="/ppt/media/image3.png" Id="R1525d590c0bb4e48" /><Relationship Type="http://schemas.openxmlformats.org/officeDocument/2006/relationships/image" Target="/ppt/media/image8.png" Id="R4bee2a02447042bf" /><Relationship Type="http://schemas.openxmlformats.org/officeDocument/2006/relationships/image" Target="/ppt/media/image14.png" Id="R7c42f87bdc0f448e" /><Relationship Type="http://schemas.openxmlformats.org/officeDocument/2006/relationships/image" Target="/ppt/media/image15.png" Id="R3571f76daaa04d76" /><Relationship Type="http://schemas.openxmlformats.org/officeDocument/2006/relationships/image" Target="/ppt/media/image.jpeg" Id="Re310962d178243c5" /><Relationship Type="http://schemas.openxmlformats.org/officeDocument/2006/relationships/notesSlide" Target="/ppt/notesSlides/notesSlide7.xml" Id="R17f21488722f4b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cf5bc8fa41244e8" /><Relationship Type="http://schemas.openxmlformats.org/officeDocument/2006/relationships/image" Target="/ppt/media/image.png" Id="R98c314005f144ca5" /><Relationship Type="http://schemas.openxmlformats.org/officeDocument/2006/relationships/image" Target="/ppt/media/image5.png" Id="Rdd49732cd00549c2" /><Relationship Type="http://schemas.openxmlformats.org/officeDocument/2006/relationships/image" Target="/ppt/media/image7.png" Id="Rdeb5be295ba6422c" /><Relationship Type="http://schemas.openxmlformats.org/officeDocument/2006/relationships/image" Target="/ppt/media/image3.png" Id="R028fe52d1fe34b08" /><Relationship Type="http://schemas.openxmlformats.org/officeDocument/2006/relationships/image" Target="/ppt/media/image8.png" Id="R7ddc657dc7e34439" /><Relationship Type="http://schemas.openxmlformats.org/officeDocument/2006/relationships/image" Target="/ppt/media/image14.png" Id="R4edff8b0af854548" /><Relationship Type="http://schemas.openxmlformats.org/officeDocument/2006/relationships/image" Target="/ppt/media/image15.png" Id="R034384e0ed97410e" /><Relationship Type="http://schemas.openxmlformats.org/officeDocument/2006/relationships/image" Target="/ppt/media/image.jpeg" Id="R4c726dfa589b42f7" /><Relationship Type="http://schemas.openxmlformats.org/officeDocument/2006/relationships/notesSlide" Target="/ppt/notesSlides/notesSlide8.xml" Id="Re909ddbeed544a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01ccb8eac7d4444" /><Relationship Type="http://schemas.openxmlformats.org/officeDocument/2006/relationships/image" Target="/ppt/media/image.png" Id="R37bc777bd7724f95" /><Relationship Type="http://schemas.openxmlformats.org/officeDocument/2006/relationships/image" Target="/ppt/media/image5.png" Id="R662b83d6074241cf" /><Relationship Type="http://schemas.openxmlformats.org/officeDocument/2006/relationships/image" Target="/ppt/media/image7.png" Id="R9cf44c6ff37f46b3" /><Relationship Type="http://schemas.openxmlformats.org/officeDocument/2006/relationships/image" Target="/ppt/media/image3.png" Id="R64bd410f43e04cea" /><Relationship Type="http://schemas.openxmlformats.org/officeDocument/2006/relationships/image" Target="/ppt/media/image8.png" Id="Rfc40ff46f16944cf" /><Relationship Type="http://schemas.openxmlformats.org/officeDocument/2006/relationships/image" Target="/ppt/media/image14.png" Id="Rb040ac924fa045e0" /><Relationship Type="http://schemas.openxmlformats.org/officeDocument/2006/relationships/image" Target="/ppt/media/image15.png" Id="R807efffbfa584f86" /><Relationship Type="http://schemas.openxmlformats.org/officeDocument/2006/relationships/image" Target="/ppt/media/image.jpeg" Id="Rae3e85f278e1465e" /><Relationship Type="http://schemas.openxmlformats.org/officeDocument/2006/relationships/notesSlide" Target="/ppt/notesSlides/notesSlide9.xml" Id="Rb159d2d17ff346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471babada541b2" /><Relationship Type="http://schemas.openxmlformats.org/officeDocument/2006/relationships/image" Target="/ppt/media/image.png" Id="R28b36561593a4a1a" /><Relationship Type="http://schemas.openxmlformats.org/officeDocument/2006/relationships/image" Target="/ppt/media/image5.png" Id="R9d0546610e7a4556" /><Relationship Type="http://schemas.openxmlformats.org/officeDocument/2006/relationships/image" Target="/ppt/media/image7.png" Id="Rc3f135e4e32c490d" /><Relationship Type="http://schemas.openxmlformats.org/officeDocument/2006/relationships/image" Target="/ppt/media/image3.png" Id="R12484c71dab44889" /><Relationship Type="http://schemas.openxmlformats.org/officeDocument/2006/relationships/image" Target="/ppt/media/image8.png" Id="Rd0fbc88f34e5477f" /><Relationship Type="http://schemas.openxmlformats.org/officeDocument/2006/relationships/image" Target="/ppt/media/image14.png" Id="R66c0cc89e5c14b4e" /><Relationship Type="http://schemas.openxmlformats.org/officeDocument/2006/relationships/image" Target="/ppt/media/image15.png" Id="R6c80d35546234693" /><Relationship Type="http://schemas.openxmlformats.org/officeDocument/2006/relationships/image" Target="/ppt/media/image.jpeg" Id="R9559bc74496c4940" /><Relationship Type="http://schemas.openxmlformats.org/officeDocument/2006/relationships/notesSlide" Target="/ppt/notesSlides/notesSlide10.xml" Id="Rbee193d20d4540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08327480b145ac" /><Relationship Type="http://schemas.openxmlformats.org/officeDocument/2006/relationships/image" Target="/ppt/media/image.png" Id="Rfe4ec26d150f47ec" /><Relationship Type="http://schemas.openxmlformats.org/officeDocument/2006/relationships/image" Target="/ppt/media/image5.png" Id="R583e0f0556f24371" /><Relationship Type="http://schemas.openxmlformats.org/officeDocument/2006/relationships/image" Target="/ppt/media/image7.png" Id="R1af6bea01ceb4416" /><Relationship Type="http://schemas.openxmlformats.org/officeDocument/2006/relationships/image" Target="/ppt/media/image3.png" Id="R98990b167cb2484f" /><Relationship Type="http://schemas.openxmlformats.org/officeDocument/2006/relationships/image" Target="/ppt/media/image8.png" Id="R86333946734745fc" /><Relationship Type="http://schemas.openxmlformats.org/officeDocument/2006/relationships/image" Target="/ppt/media/image14.png" Id="Racff27ce87e94727" /><Relationship Type="http://schemas.openxmlformats.org/officeDocument/2006/relationships/image" Target="/ppt/media/image15.png" Id="Reed94107b99c4040" /><Relationship Type="http://schemas.openxmlformats.org/officeDocument/2006/relationships/image" Target="/ppt/media/image.jpeg" Id="R8423ae7f04f74fe5" /><Relationship Type="http://schemas.openxmlformats.org/officeDocument/2006/relationships/notesSlide" Target="/ppt/notesSlides/notesSlide11.xml" Id="R20ccac7595a448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1cae27c54a4fb4" /><Relationship Type="http://schemas.openxmlformats.org/officeDocument/2006/relationships/image" Target="/ppt/media/image.png" Id="R2c24e12623fe4651" /><Relationship Type="http://schemas.openxmlformats.org/officeDocument/2006/relationships/image" Target="/ppt/media/image5.png" Id="Rcabbbe917f194c32" /><Relationship Type="http://schemas.openxmlformats.org/officeDocument/2006/relationships/image" Target="/ppt/media/image7.png" Id="R7dee02de17a64236" /><Relationship Type="http://schemas.openxmlformats.org/officeDocument/2006/relationships/image" Target="/ppt/media/image3.png" Id="R3157d3ba2b1d478d" /><Relationship Type="http://schemas.openxmlformats.org/officeDocument/2006/relationships/image" Target="/ppt/media/image8.png" Id="R2235a4ac56b848a0" /><Relationship Type="http://schemas.openxmlformats.org/officeDocument/2006/relationships/image" Target="/ppt/media/image14.png" Id="Rf1c34122833e4e73" /><Relationship Type="http://schemas.openxmlformats.org/officeDocument/2006/relationships/image" Target="/ppt/media/image15.png" Id="R862ea2948be14cfc" /><Relationship Type="http://schemas.openxmlformats.org/officeDocument/2006/relationships/image" Target="/ppt/media/image.jpeg" Id="Rc36fb252e8b3402e" /><Relationship Type="http://schemas.openxmlformats.org/officeDocument/2006/relationships/notesSlide" Target="/ppt/notesSlides/notesSlide12.xml" Id="R116ff1ae8eae4c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322dd92bdb1431a" /><Relationship Type="http://schemas.openxmlformats.org/officeDocument/2006/relationships/image" Target="/ppt/media/image.png" Id="Rd2fe4dda54284ca5" /><Relationship Type="http://schemas.openxmlformats.org/officeDocument/2006/relationships/image" Target="/ppt/media/image5.png" Id="R76e26cb744fd49b9" /><Relationship Type="http://schemas.openxmlformats.org/officeDocument/2006/relationships/image" Target="/ppt/media/image7.png" Id="R050bdcadd7fc43aa" /><Relationship Type="http://schemas.openxmlformats.org/officeDocument/2006/relationships/image" Target="/ppt/media/image3.png" Id="Re7d48ff88aa24985" /><Relationship Type="http://schemas.openxmlformats.org/officeDocument/2006/relationships/image" Target="/ppt/media/image8.png" Id="R1a3ac8612c514aac" /><Relationship Type="http://schemas.openxmlformats.org/officeDocument/2006/relationships/image" Target="/ppt/media/image14.png" Id="R96e88ce8a14140be" /><Relationship Type="http://schemas.openxmlformats.org/officeDocument/2006/relationships/image" Target="/ppt/media/image15.png" Id="Ref82065ad3f44046" /><Relationship Type="http://schemas.openxmlformats.org/officeDocument/2006/relationships/image" Target="/ppt/media/image.jpeg" Id="Re58578475b3941c8" /><Relationship Type="http://schemas.openxmlformats.org/officeDocument/2006/relationships/notesSlide" Target="/ppt/notesSlides/notesSlide13.xml" Id="Rffcaf32b07844c6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ce8514c65c4a77" /><Relationship Type="http://schemas.openxmlformats.org/officeDocument/2006/relationships/image" Target="/ppt/media/image.png" Id="R135da523ad1a4879" /><Relationship Type="http://schemas.openxmlformats.org/officeDocument/2006/relationships/image" Target="/ppt/media/image5.png" Id="Rd809ab288ecb4102" /><Relationship Type="http://schemas.openxmlformats.org/officeDocument/2006/relationships/image" Target="/ppt/media/image7.png" Id="R0429be6603b74b91" /><Relationship Type="http://schemas.openxmlformats.org/officeDocument/2006/relationships/image" Target="/ppt/media/image3.png" Id="R447d61dd19cc4a07" /><Relationship Type="http://schemas.openxmlformats.org/officeDocument/2006/relationships/image" Target="/ppt/media/image8.png" Id="Rb14c040967ab49e6" /><Relationship Type="http://schemas.openxmlformats.org/officeDocument/2006/relationships/image" Target="/ppt/media/image9.png" Id="R150550b4c695478e" /><Relationship Type="http://schemas.openxmlformats.org/officeDocument/2006/relationships/image" Target="/ppt/media/image10.png" Id="R4d83011f1d0c4aee" /><Relationship Type="http://schemas.openxmlformats.org/officeDocument/2006/relationships/image" Target="/ppt/media/image11.png" Id="R65a052ab9b264ba8" /><Relationship Type="http://schemas.openxmlformats.org/officeDocument/2006/relationships/image" Target="/ppt/media/image12.png" Id="R742f721eef6c45e0" /><Relationship Type="http://schemas.openxmlformats.org/officeDocument/2006/relationships/image" Target="/ppt/media/image13.png" Id="Ra1426c7d74f54f90" /><Relationship Type="http://schemas.openxmlformats.org/officeDocument/2006/relationships/notesSlide" Target="/ppt/notesSlides/notesSlide14.xml" Id="R47d8deb13bf245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d4d49b63e045a1" /><Relationship Type="http://schemas.openxmlformats.org/officeDocument/2006/relationships/image" Target="/ppt/media/image.png" Id="Rcc80a38e7d6049fd" /><Relationship Type="http://schemas.openxmlformats.org/officeDocument/2006/relationships/image" Target="/ppt/media/image5.png" Id="R6af3a12ac4444942" /><Relationship Type="http://schemas.openxmlformats.org/officeDocument/2006/relationships/image" Target="/ppt/media/image7.png" Id="Rc6278cf66bc34e33" /><Relationship Type="http://schemas.openxmlformats.org/officeDocument/2006/relationships/image" Target="/ppt/media/image3.png" Id="R631fae3755e7446b" /><Relationship Type="http://schemas.openxmlformats.org/officeDocument/2006/relationships/image" Target="/ppt/media/image8.png" Id="Ra2fe556640274fa4" /><Relationship Type="http://schemas.openxmlformats.org/officeDocument/2006/relationships/image" Target="/ppt/media/image9.png" Id="R14f8d44c88d44874" /><Relationship Type="http://schemas.openxmlformats.org/officeDocument/2006/relationships/image" Target="/ppt/media/image10.png" Id="R5210b65da0fd49a6" /><Relationship Type="http://schemas.openxmlformats.org/officeDocument/2006/relationships/image" Target="/ppt/media/image11.png" Id="Re16cc159f0c74b00" /><Relationship Type="http://schemas.openxmlformats.org/officeDocument/2006/relationships/image" Target="/ppt/media/image12.png" Id="Rb42d6136210a449e" /><Relationship Type="http://schemas.openxmlformats.org/officeDocument/2006/relationships/image" Target="/ppt/media/image13.png" Id="Rbc1489fbf88b44b1" /><Relationship Type="http://schemas.openxmlformats.org/officeDocument/2006/relationships/notesSlide" Target="/ppt/notesSlides/notesSlide15.xml" Id="Rc5e44aa04a844e2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a02bb0fba4415a" /><Relationship Type="http://schemas.openxmlformats.org/officeDocument/2006/relationships/image" Target="/ppt/media/image.png" Id="R4b16738ca9e24494" /><Relationship Type="http://schemas.openxmlformats.org/officeDocument/2006/relationships/image" Target="/ppt/media/image5.png" Id="Rf9e93502218b4bf6" /><Relationship Type="http://schemas.openxmlformats.org/officeDocument/2006/relationships/image" Target="/ppt/media/image7.png" Id="R92556f0a4cf24bdc" /><Relationship Type="http://schemas.openxmlformats.org/officeDocument/2006/relationships/image" Target="/ppt/media/image3.png" Id="R6cb7692e2f7b4f40" /><Relationship Type="http://schemas.openxmlformats.org/officeDocument/2006/relationships/image" Target="/ppt/media/image8.png" Id="R326f5bffd93042f5" /><Relationship Type="http://schemas.openxmlformats.org/officeDocument/2006/relationships/image" Target="/ppt/media/image9.png" Id="R9adb7d71393a4f69" /><Relationship Type="http://schemas.openxmlformats.org/officeDocument/2006/relationships/image" Target="/ppt/media/image10.png" Id="Rab5c1abe5fa54d3f" /><Relationship Type="http://schemas.openxmlformats.org/officeDocument/2006/relationships/image" Target="/ppt/media/image11.png" Id="R96d94f535aca4742" /><Relationship Type="http://schemas.openxmlformats.org/officeDocument/2006/relationships/image" Target="/ppt/media/image12.png" Id="Rc3122666c49a4d7f" /><Relationship Type="http://schemas.openxmlformats.org/officeDocument/2006/relationships/image" Target="/ppt/media/image13.png" Id="R2fc2e8e3fc9f44f9" /><Relationship Type="http://schemas.openxmlformats.org/officeDocument/2006/relationships/notesSlide" Target="/ppt/notesSlides/notesSlide16.xml" Id="Rf7efe52c57a6402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63f3b37ccb4a7e" /><Relationship Type="http://schemas.openxmlformats.org/officeDocument/2006/relationships/image" Target="/ppt/media/image.png" Id="R8f128df5cccd4192" /><Relationship Type="http://schemas.openxmlformats.org/officeDocument/2006/relationships/image" Target="/ppt/media/image5.png" Id="R28059d5fedab474a" /><Relationship Type="http://schemas.openxmlformats.org/officeDocument/2006/relationships/image" Target="/ppt/media/image7.png" Id="Rf09826bf446d4682" /><Relationship Type="http://schemas.openxmlformats.org/officeDocument/2006/relationships/image" Target="/ppt/media/image3.png" Id="R263baf86787549ae" /><Relationship Type="http://schemas.openxmlformats.org/officeDocument/2006/relationships/image" Target="/ppt/media/image8.png" Id="Rbd6e83ab99484dc8" /><Relationship Type="http://schemas.openxmlformats.org/officeDocument/2006/relationships/image" Target="/ppt/media/image9.png" Id="R23c2f6c0557c4303" /><Relationship Type="http://schemas.openxmlformats.org/officeDocument/2006/relationships/image" Target="/ppt/media/image10.png" Id="R4e6251ea2c184059" /><Relationship Type="http://schemas.openxmlformats.org/officeDocument/2006/relationships/image" Target="/ppt/media/image11.png" Id="Rafd6bccfb5514f61" /><Relationship Type="http://schemas.openxmlformats.org/officeDocument/2006/relationships/image" Target="/ppt/media/image12.png" Id="R72e0626ea78c4f62" /><Relationship Type="http://schemas.openxmlformats.org/officeDocument/2006/relationships/image" Target="/ppt/media/image13.png" Id="Rd810b295ba924d78" /><Relationship Type="http://schemas.openxmlformats.org/officeDocument/2006/relationships/notesSlide" Target="/ppt/notesSlides/notesSlide17.xml" Id="Rb59601890b334cd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e483c3b9e64cdb" /><Relationship Type="http://schemas.openxmlformats.org/officeDocument/2006/relationships/image" Target="/ppt/media/image.png" Id="R9b5d00ef71584533" /><Relationship Type="http://schemas.openxmlformats.org/officeDocument/2006/relationships/image" Target="/ppt/media/image5.png" Id="Rf1b5eceebbff44a5" /><Relationship Type="http://schemas.openxmlformats.org/officeDocument/2006/relationships/image" Target="/ppt/media/image7.png" Id="Rf5646aca38d24e31" /><Relationship Type="http://schemas.openxmlformats.org/officeDocument/2006/relationships/image" Target="/ppt/media/image3.png" Id="R0b8043ea7e2d4275" /><Relationship Type="http://schemas.openxmlformats.org/officeDocument/2006/relationships/image" Target="/ppt/media/image8.png" Id="Rbd7aa88b12a04086" /><Relationship Type="http://schemas.openxmlformats.org/officeDocument/2006/relationships/image" Target="/ppt/media/image9.png" Id="R6e354d95234242db" /><Relationship Type="http://schemas.openxmlformats.org/officeDocument/2006/relationships/image" Target="/ppt/media/image10.png" Id="Ra478e34807514314" /><Relationship Type="http://schemas.openxmlformats.org/officeDocument/2006/relationships/image" Target="/ppt/media/image11.png" Id="R13b2f27870bd460d" /><Relationship Type="http://schemas.openxmlformats.org/officeDocument/2006/relationships/image" Target="/ppt/media/image12.png" Id="R62965bfb7d904f25" /><Relationship Type="http://schemas.openxmlformats.org/officeDocument/2006/relationships/image" Target="/ppt/media/image13.png" Id="R2233e758e8584259" /><Relationship Type="http://schemas.openxmlformats.org/officeDocument/2006/relationships/notesSlide" Target="/ppt/notesSlides/notesSlide18.xml" Id="Rc1e9d87916164a1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9617b0183fc47cd" /><Relationship Type="http://schemas.openxmlformats.org/officeDocument/2006/relationships/image" Target="/ppt/media/image.png" Id="R8b8f7b6c7aff4a2b" /><Relationship Type="http://schemas.openxmlformats.org/officeDocument/2006/relationships/image" Target="/ppt/media/image5.png" Id="R36b2913955ac4ae4" /><Relationship Type="http://schemas.openxmlformats.org/officeDocument/2006/relationships/image" Target="/ppt/media/image7.png" Id="R62e0d08e31aa48f6" /><Relationship Type="http://schemas.openxmlformats.org/officeDocument/2006/relationships/image" Target="/ppt/media/image3.png" Id="R98659c5daeea4be5" /><Relationship Type="http://schemas.openxmlformats.org/officeDocument/2006/relationships/image" Target="/ppt/media/image8.png" Id="R72390aa90dfd4e1a" /><Relationship Type="http://schemas.openxmlformats.org/officeDocument/2006/relationships/image" Target="/ppt/media/image9.png" Id="Ree0d412855cd416f" /><Relationship Type="http://schemas.openxmlformats.org/officeDocument/2006/relationships/image" Target="/ppt/media/image10.png" Id="R63b40d05e9b149a9" /><Relationship Type="http://schemas.openxmlformats.org/officeDocument/2006/relationships/image" Target="/ppt/media/image11.png" Id="R98bbb160df984888" /><Relationship Type="http://schemas.openxmlformats.org/officeDocument/2006/relationships/image" Target="/ppt/media/image12.png" Id="R40a7aa03c8514a17" /><Relationship Type="http://schemas.openxmlformats.org/officeDocument/2006/relationships/image" Target="/ppt/media/image13.png" Id="R429c41d8771546bb" /><Relationship Type="http://schemas.openxmlformats.org/officeDocument/2006/relationships/notesSlide" Target="/ppt/notesSlides/notesSlide19.xml" Id="R9b27d2db1074486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535a60ee5f4867" /><Relationship Type="http://schemas.openxmlformats.org/officeDocument/2006/relationships/image" Target="/ppt/media/image.png" Id="R8fcde41a91484ed4" /><Relationship Type="http://schemas.openxmlformats.org/officeDocument/2006/relationships/image" Target="/ppt/media/image5.png" Id="Rd7d65b2849d2433f" /><Relationship Type="http://schemas.openxmlformats.org/officeDocument/2006/relationships/image" Target="/ppt/media/image7.png" Id="Rb297293140774436" /><Relationship Type="http://schemas.openxmlformats.org/officeDocument/2006/relationships/image" Target="/ppt/media/image3.png" Id="Redfc79f801004da8" /><Relationship Type="http://schemas.openxmlformats.org/officeDocument/2006/relationships/image" Target="/ppt/media/image8.png" Id="R2415c31ea49c47fa" /><Relationship Type="http://schemas.openxmlformats.org/officeDocument/2006/relationships/image" Target="/ppt/media/image9.png" Id="Rf341bd33efe24c01" /><Relationship Type="http://schemas.openxmlformats.org/officeDocument/2006/relationships/image" Target="/ppt/media/image10.png" Id="Reb2a08acc948457e" /><Relationship Type="http://schemas.openxmlformats.org/officeDocument/2006/relationships/image" Target="/ppt/media/image11.png" Id="R8c52811f5e1745db" /><Relationship Type="http://schemas.openxmlformats.org/officeDocument/2006/relationships/image" Target="/ppt/media/image12.png" Id="Rdd09d2c5bdf44683" /><Relationship Type="http://schemas.openxmlformats.org/officeDocument/2006/relationships/image" Target="/ppt/media/image13.png" Id="R367ce20e95c148be" /><Relationship Type="http://schemas.openxmlformats.org/officeDocument/2006/relationships/notesSlide" Target="/ppt/notesSlides/notesSlide20.xml" Id="Read1eca6b3584cf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a1e5ee39da4328" /><Relationship Type="http://schemas.openxmlformats.org/officeDocument/2006/relationships/image" Target="/ppt/media/image.png" Id="Rb176942640904449" /><Relationship Type="http://schemas.openxmlformats.org/officeDocument/2006/relationships/image" Target="/ppt/media/image5.png" Id="R39313a87914c4ca5" /><Relationship Type="http://schemas.openxmlformats.org/officeDocument/2006/relationships/image" Target="/ppt/media/image7.png" Id="R6aa23d22c0324a43" /><Relationship Type="http://schemas.openxmlformats.org/officeDocument/2006/relationships/image" Target="/ppt/media/image3.png" Id="R8dd47f5494944ec9" /><Relationship Type="http://schemas.openxmlformats.org/officeDocument/2006/relationships/image" Target="/ppt/media/image8.png" Id="R22163d05214a4a0b" /><Relationship Type="http://schemas.openxmlformats.org/officeDocument/2006/relationships/image" Target="/ppt/media/image9.png" Id="Rd72525fd065040de" /><Relationship Type="http://schemas.openxmlformats.org/officeDocument/2006/relationships/image" Target="/ppt/media/image10.png" Id="Rda9a7d2647cc4b38" /><Relationship Type="http://schemas.openxmlformats.org/officeDocument/2006/relationships/image" Target="/ppt/media/image11.png" Id="Rd79642c02173474a" /><Relationship Type="http://schemas.openxmlformats.org/officeDocument/2006/relationships/image" Target="/ppt/media/image12.png" Id="Rddfb4bfce9cf434b" /><Relationship Type="http://schemas.openxmlformats.org/officeDocument/2006/relationships/image" Target="/ppt/media/image13.png" Id="R0e79de75af984264" /><Relationship Type="http://schemas.openxmlformats.org/officeDocument/2006/relationships/notesSlide" Target="/ppt/notesSlides/notesSlide21.xml" Id="R19a6b7bfcbf8460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084ce073b94e13" /><Relationship Type="http://schemas.openxmlformats.org/officeDocument/2006/relationships/image" Target="/ppt/media/image.png" Id="R7d526a1b47154eb8" /><Relationship Type="http://schemas.openxmlformats.org/officeDocument/2006/relationships/image" Target="/ppt/media/image5.png" Id="R7cdb84f72b644899" /><Relationship Type="http://schemas.openxmlformats.org/officeDocument/2006/relationships/image" Target="/ppt/media/image7.png" Id="R0b6215e55f224b4f" /><Relationship Type="http://schemas.openxmlformats.org/officeDocument/2006/relationships/image" Target="/ppt/media/image3.png" Id="R3348799cb8574d4a" /><Relationship Type="http://schemas.openxmlformats.org/officeDocument/2006/relationships/image" Target="/ppt/media/image8.png" Id="Rc80550ce90b44beb" /><Relationship Type="http://schemas.openxmlformats.org/officeDocument/2006/relationships/image" Target="/ppt/media/image9.png" Id="Rcf60db6458e24bb6" /><Relationship Type="http://schemas.openxmlformats.org/officeDocument/2006/relationships/image" Target="/ppt/media/image10.png" Id="Rf222ec87a8fd4c9c" /><Relationship Type="http://schemas.openxmlformats.org/officeDocument/2006/relationships/image" Target="/ppt/media/image11.png" Id="R09e79424f01644fc" /><Relationship Type="http://schemas.openxmlformats.org/officeDocument/2006/relationships/image" Target="/ppt/media/image12.png" Id="R0d142ad37b354b48" /><Relationship Type="http://schemas.openxmlformats.org/officeDocument/2006/relationships/image" Target="/ppt/media/image13.png" Id="R4d8f2bc941c54a23" /><Relationship Type="http://schemas.openxmlformats.org/officeDocument/2006/relationships/notesSlide" Target="/ppt/notesSlides/notesSlide22.xml" Id="R0200caf8a4944e5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48259baef24273" /><Relationship Type="http://schemas.openxmlformats.org/officeDocument/2006/relationships/image" Target="/ppt/media/image.png" Id="Rdaf9c7a6838d4751" /><Relationship Type="http://schemas.openxmlformats.org/officeDocument/2006/relationships/image" Target="/ppt/media/image5.png" Id="Rfe8e5f0672b94aed" /><Relationship Type="http://schemas.openxmlformats.org/officeDocument/2006/relationships/image" Target="/ppt/media/image7.png" Id="R5ed366fff4404122" /><Relationship Type="http://schemas.openxmlformats.org/officeDocument/2006/relationships/image" Target="/ppt/media/image3.png" Id="R6ae9131b098a4d53" /><Relationship Type="http://schemas.openxmlformats.org/officeDocument/2006/relationships/image" Target="/ppt/media/image8.png" Id="R467968ce3a1c492b" /><Relationship Type="http://schemas.openxmlformats.org/officeDocument/2006/relationships/image" Target="/ppt/media/image9.png" Id="Rf3c351e295e8438a" /><Relationship Type="http://schemas.openxmlformats.org/officeDocument/2006/relationships/image" Target="/ppt/media/image10.png" Id="Rf12bf6e7c1364efb" /><Relationship Type="http://schemas.openxmlformats.org/officeDocument/2006/relationships/image" Target="/ppt/media/image11.png" Id="R1e6116903eb64357" /><Relationship Type="http://schemas.openxmlformats.org/officeDocument/2006/relationships/image" Target="/ppt/media/image12.png" Id="Rb833ef46fd7b42f2" /><Relationship Type="http://schemas.openxmlformats.org/officeDocument/2006/relationships/image" Target="/ppt/media/image13.png" Id="Rd53ca03bf6604781" /><Relationship Type="http://schemas.openxmlformats.org/officeDocument/2006/relationships/notesSlide" Target="/ppt/notesSlides/notesSlide23.xml" Id="R986ea4e38c55438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8716b7e3e841ea" /><Relationship Type="http://schemas.openxmlformats.org/officeDocument/2006/relationships/image" Target="/ppt/media/image.png" Id="R2722259e3fa44da3" /><Relationship Type="http://schemas.openxmlformats.org/officeDocument/2006/relationships/image" Target="/ppt/media/image2.png" Id="R05bbde3ef2e74cc3" /><Relationship Type="http://schemas.openxmlformats.org/officeDocument/2006/relationships/image" Target="/ppt/media/image3.png" Id="R284a67f566b1443e" /><Relationship Type="http://schemas.openxmlformats.org/officeDocument/2006/relationships/image" Target="/ppt/media/image4.png" Id="R5a33123135af454e" /><Relationship Type="http://schemas.openxmlformats.org/officeDocument/2006/relationships/notesSlide" Target="/ppt/notesSlides/notesSlide24.xml" Id="R0006833c71bf4b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1D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b9c06ba8144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20700" y="673100"/>
            <a:ext cx="23342600" cy="12369800"/>
          </a:xfrm>
          <a:prstGeom xmlns:a="http://schemas.openxmlformats.org/drawingml/2006/main" prst="rect">
            <a:avLst/>
          </a:prstGeom>
        </p:spPr>
      </p:pic>
      <p:pic>
        <p:nvPicPr>
          <p:cNvPr id="2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d71a823604b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901700" y="1041400"/>
            <a:ext cx="22580600" cy="11633200"/>
          </a:xfrm>
          <a:prstGeom xmlns:a="http://schemas.openxmlformats.org/drawingml/2006/main" prst="rect">
            <a:avLst/>
          </a:prstGeom>
        </p:spPr>
      </p:pic>
      <p:pic>
        <p:nvPicPr>
          <p:cNvPr id="2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534061ac745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0299700"/>
            <a:ext cx="21272500" cy="50800"/>
          </a:xfrm>
          <a:prstGeom xmlns:a="http://schemas.openxmlformats.org/drawingml/2006/main" prst="rect">
            <a:avLst/>
          </a:prstGeom>
        </p:spPr>
      </p:pic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C35255FF-F8A0-4B82-912F-925F5B33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6900" y="4470400"/>
            <a:ext cx="7950200" cy="73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4000" b="0" i="0" u="non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응급 상황의 정보 탐색을 실제 행동으로 연결하는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78D6C7C6-EB1A-446A-B10C-FEBD36BE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5900" y="7112000"/>
            <a:ext cx="6248400" cy="59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3200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lastcall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4EBCBCBE-9F49-469E-B9C9-ADD5D968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100" y="5168900"/>
            <a:ext cx="10375900" cy="215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2000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  ortfoLIo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9D6A9F5-AC66-4E76-9653-52DCAE03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4800" y="4724400"/>
            <a:ext cx="2692400" cy="31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7733" b="0" i="0" u="none" cap="all">
                <a:solidFill>
                  <a:srgbClr val="000000"/>
                </a:solidFill>
                <a:latin typeface="Mr Dafoe Regular"/>
                <a:ea typeface="Mr Dafoe Regular"/>
                <a:cs typeface="Mr Dafoe Regular"/>
              </a:rPr>
              <a:t>P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8A8A23B9-5618-4A0F-9449-91851DA8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1828800"/>
            <a:ext cx="7467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732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PROJECT PORTFOLIO · 2026.08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9411542154f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11442700" y="11442700"/>
            <a:ext cx="1511300" cy="50800"/>
          </a:xfrm>
          <a:prstGeom xmlns:a="http://schemas.openxmlformats.org/drawingml/2006/main" prst="rect">
            <a:avLst/>
          </a:prstGeom>
        </p:spPr>
      </p:pic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6AD3A2E-0C06-4067-A50C-B879A836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5700" y="11049000"/>
            <a:ext cx="8902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400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project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CEF83650-16F2-47DE-82AA-8796A974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11531600"/>
            <a:ext cx="889000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867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Expo SDK 54 · Spring Boot 4 · Public Data · Naver Map · AWS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8599ED74-7BA4-469B-9A78-48B22FC5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2900" y="11049000"/>
            <a:ext cx="8902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400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FULL-STACK DEVELOPER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2BAB3BA8-4669-412E-BA8F-28654FEA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55600" y="11531600"/>
            <a:ext cx="889000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867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PARK EUI HYEOK   ·   ANDROID / SERVER / OPERATIONS</a:t>
            </a:r>
          </a:p>
        </p:txBody>
      </p:sp>
    </p:spTree>
    <p:extLst>
      <p:ext uri="{BB962C8B-B14F-4D97-AF65-F5344CB8AC3E}">
        <p14:creationId xmlns:p14="http://schemas.microsoft.com/office/powerpoint/2010/main" val="13749357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50d0325d845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20700" y="673100"/>
            <a:ext cx="23342600" cy="12369800"/>
          </a:xfrm>
          <a:prstGeom xmlns:a="http://schemas.openxmlformats.org/drawingml/2006/main" prst="rect">
            <a:avLst/>
          </a:prstGeom>
        </p:spPr>
      </p:pic>
      <p:pic>
        <p:nvPicPr>
          <p:cNvPr id="33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3810bac6244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08000" y="660400"/>
            <a:ext cx="23380700" cy="12407900"/>
          </a:xfrm>
          <a:prstGeom xmlns:a="http://schemas.openxmlformats.org/drawingml/2006/main" prst="rect">
            <a:avLst/>
          </a:prstGeom>
        </p:spPr>
      </p:pic>
      <p:pic>
        <p:nvPicPr>
          <p:cNvPr id="3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315284f3e48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5435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3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fcfeba1c64c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11214100" y="6858000"/>
            <a:ext cx="1968500" cy="50800"/>
          </a:xfrm>
          <a:prstGeom xmlns:a="http://schemas.openxmlformats.org/drawingml/2006/main" prst="rect">
            <a:avLst/>
          </a:prstGeom>
        </p:spPr>
      </p:pic>
      <p:pic>
        <p:nvPicPr>
          <p:cNvPr id="3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315284f3e48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82804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3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fcfeba1c64c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11214100" y="9702800"/>
            <a:ext cx="1968500" cy="50800"/>
          </a:xfrm>
          <a:prstGeom xmlns:a="http://schemas.openxmlformats.org/drawingml/2006/main" prst="rect">
            <a:avLst/>
          </a:prstGeom>
        </p:spPr>
      </p:pic>
      <p:pic>
        <p:nvPicPr>
          <p:cNvPr id="38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315284f3e48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1137900"/>
            <a:ext cx="21272500" cy="50800"/>
          </a:xfrm>
          <a:prstGeom xmlns:a="http://schemas.openxmlformats.org/drawingml/2006/main" prst="rect">
            <a:avLst/>
          </a:prstGeom>
        </p:spPr>
      </p:pic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E5C1DA85-C989-49FC-8C60-2B436FC4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9400" y="2781300"/>
            <a:ext cx="2044700" cy="154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8533" b="0" i="0" u="none" cap="all">
                <a:solidFill>
                  <a:srgbClr val="000000"/>
                </a:solidFill>
                <a:latin typeface="Mr Dafoe Regular"/>
                <a:ea typeface="Mr Dafoe Regular"/>
                <a:cs typeface="Mr Dafoe Regular"/>
              </a:rPr>
              <a:t>c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B9D650F-8481-43E5-AB61-1E941144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9500" y="3124200"/>
            <a:ext cx="4699000" cy="105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5733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  ontents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C97BC8B-5558-4AA2-99BD-ECCE1695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900" y="2476500"/>
            <a:ext cx="3886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7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lastcall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5A76A00C-83C0-43C9-9F94-B97E720D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11785600"/>
            <a:ext cx="213487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133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실제 화면, 구현 코드, 운영 근거를 함께 제시하는 프로젝트 중심 개발자 포트폴리오입니다.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A0255426-D310-4308-8F19-C2CEBD49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7100" y="6070600"/>
            <a:ext cx="8686800" cy="59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31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문제와 제품 설계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9AA2A72E-C535-4FA2-986E-FD10D388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7100" y="6781800"/>
            <a:ext cx="8648700" cy="92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2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문제 정의 · 사용자 흐름 · 기능 범위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104C7380-E171-47CA-8298-FCC4D969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37900" y="5905500"/>
            <a:ext cx="55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1999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F976085C-42C5-42CE-B589-B6E9F108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14300" y="6070600"/>
            <a:ext cx="8686800" cy="59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31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화면과 사용자 경험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7002A2A4-C1EC-40FA-96C0-5B7944E8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14300" y="6781800"/>
            <a:ext cx="8648700" cy="92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2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홈 · 검색 · 지도 · 의료정보 · 커뮤니티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AC73757F-3675-4E2B-BEAC-2AF2EF19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55100" y="5905500"/>
            <a:ext cx="55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1999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62F2A7A4-4E2F-418B-AE62-59562405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7100" y="8928100"/>
            <a:ext cx="8686800" cy="59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31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엔지니어링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564F556B-D338-48A7-88F6-C73B3C9C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7100" y="9626600"/>
            <a:ext cx="8648700" cy="92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2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아키텍처 · 데이터 · 보안 · 기술 도구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DA4AD795-7D43-4696-819C-6AC105A6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37900" y="8750300"/>
            <a:ext cx="55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1999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85A4574B-B6B6-4ACF-8E19-23680B7D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14300" y="8928100"/>
            <a:ext cx="8686800" cy="59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31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운영과 문제 해결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3B3F15AB-6738-46A9-9255-689BE290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14300" y="9626600"/>
            <a:ext cx="8648700" cy="92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2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배포 · 트러블슈팅 · 검증 · 회고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409F7EEE-A4BB-43ED-AA7C-4E87B9C3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55100" y="8750300"/>
            <a:ext cx="55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1999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444940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b5cb322074c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20700" y="673100"/>
            <a:ext cx="23342600" cy="12369800"/>
          </a:xfrm>
          <a:prstGeom xmlns:a="http://schemas.openxmlformats.org/drawingml/2006/main" prst="rect">
            <a:avLst/>
          </a:prstGeom>
        </p:spPr>
      </p:pic>
      <p:pic>
        <p:nvPicPr>
          <p:cNvPr id="4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b2cb8615f4d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08000" y="660400"/>
            <a:ext cx="23380700" cy="124079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09753806846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67100"/>
            <a:ext cx="21259800" cy="1079500"/>
          </a:xfrm>
          <a:prstGeom xmlns:a="http://schemas.openxmlformats.org/drawingml/2006/main" prst="rect">
            <a:avLst/>
          </a:prstGeom>
        </p:spPr>
      </p:pic>
      <p:pic>
        <p:nvPicPr>
          <p:cNvPr id="4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9c1c800d246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1785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9c1c800d246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879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9c1c800d246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41700"/>
            <a:ext cx="21272500" cy="50800"/>
          </a:xfrm>
          <a:prstGeom xmlns:a="http://schemas.openxmlformats.org/drawingml/2006/main" prst="rect">
            <a:avLst/>
          </a:prstGeom>
        </p:spPr>
      </p:pic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AC907794-9EB0-41E8-9CE2-27B751CA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12153900"/>
            <a:ext cx="213487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133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· Developer Portfolio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E0EE358-CC9B-4D71-88CF-D9599710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117600"/>
            <a:ext cx="2132330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8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PROJECT PORTFOLIO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72FBC4-96F4-4648-A06A-CD42A01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500" y="2184400"/>
            <a:ext cx="21437600" cy="92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5066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8EFE197-C48F-4DD1-9B07-17DBDC1A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700" y="2171700"/>
            <a:ext cx="55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1999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pic>
        <p:nvPicPr>
          <p:cNvPr id="5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cff156dff41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4508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57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de938a2b949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5321300" y="8140700"/>
            <a:ext cx="6451600" cy="50800"/>
          </a:xfrm>
          <a:prstGeom xmlns:a="http://schemas.openxmlformats.org/drawingml/2006/main" prst="rect">
            <a:avLst/>
          </a:prstGeom>
        </p:spPr>
      </p:pic>
      <p:pic>
        <p:nvPicPr>
          <p:cNvPr id="58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de938a2b949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12611100" y="8140700"/>
            <a:ext cx="6451600" cy="50800"/>
          </a:xfrm>
          <a:prstGeom xmlns:a="http://schemas.openxmlformats.org/drawingml/2006/main" prst="rect">
            <a:avLst/>
          </a:prstGeom>
        </p:spPr>
      </p:pic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24A5496-304F-472A-9361-06C0CB4C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9600" y="3695700"/>
            <a:ext cx="206375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가까운 응급실 탐색부터 연락·정보 공유까지 하나의 모바일 흐름으로 연결했습니다.</a:t>
            </a:r>
          </a:p>
        </p:txBody>
      </p:sp>
      <p:pic>
        <p:nvPicPr>
          <p:cNvPr id="60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a4c78651947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8C2CC54-E340-4367-BE59-21D72E8D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PRODUCT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508CA56-2C48-4868-86B6-B5CCF7B9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실시간 응급실 정보, 조건 필터, 지도, 즐겨찾기, 의료정보, 커뮤니티를 하나의 Android 앱으로 통합했습니다.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7C9A28D-2662-47FA-8052-61C4C425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14 SCREENS · 24 REST API</a:t>
            </a:r>
          </a:p>
        </p:txBody>
      </p:sp>
      <p:pic>
        <p:nvPicPr>
          <p:cNvPr id="64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a4c78651947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88519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664FFB1-FD86-47A3-A10F-01BBB278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MY SCOPE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9F0B644-BE4B-4112-9AF8-9445BD1D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Expo 앱, Spring Boot API, MyBatis/MySQL, 외부 API 연동, Nginx HTTPS, EAS APK 배포까지 전체 흐름을 구현했습니다.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81AF177-CDBE-43F9-B68A-01BDA0B4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APP · SERVER · OPS</a:t>
            </a:r>
          </a:p>
        </p:txBody>
      </p:sp>
      <p:pic>
        <p:nvPicPr>
          <p:cNvPr id="68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a4c78651947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6154400" y="10375900"/>
            <a:ext cx="6667500" cy="50800"/>
          </a:xfrm>
          <a:prstGeom xmlns:a="http://schemas.openxmlformats.org/drawingml/2006/main" prst="rect">
            <a:avLst/>
          </a:prstGeom>
        </p:spPr>
      </p:pic>
      <p:pic>
        <p:nvPicPr>
          <p:cNvPr id="69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86efd454343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1214100" y="5041900"/>
            <a:ext cx="1943100" cy="1943100"/>
          </a:xfrm>
          <a:prstGeom xmlns:a="http://schemas.openxmlformats.org/drawingml/2006/main" prst="rect">
            <a:avLst/>
          </a:prstGeom>
        </p:spPr>
      </p:pic>
      <p:pic>
        <p:nvPicPr>
          <p:cNvPr id="70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093e30a464d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3822700" y="4953000"/>
            <a:ext cx="2133600" cy="2133600"/>
          </a:xfrm>
          <a:prstGeom xmlns:a="http://schemas.openxmlformats.org/drawingml/2006/main" prst="rect">
            <a:avLst/>
          </a:prstGeom>
        </p:spPr>
      </p:pic>
      <p:pic>
        <p:nvPicPr>
          <p:cNvPr id="71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9e5ee2a394b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8491200" y="5016500"/>
            <a:ext cx="1993900" cy="1993900"/>
          </a:xfrm>
          <a:prstGeom xmlns:a="http://schemas.openxmlformats.org/drawingml/2006/main" prst="rect">
            <a:avLst/>
          </a:prstGeom>
        </p:spPr>
      </p:pic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0E7D429-A81A-4A26-9DE1-5343B661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036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RESULT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672916F9-164E-4559-B19E-3D95D106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v1.0.0-rc4 APK와 운영 API를 연결하고 서버 테스트 14개, Expo Doctor 18/18, 핵심 API HTTP 200을 확인했습니다.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3D249C6A-108B-4857-8730-D1FD3EC8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END-TO-END DELIVERY</a:t>
            </a:r>
          </a:p>
        </p:txBody>
      </p:sp>
    </p:spTree>
    <p:extLst>
      <p:ext uri="{BB962C8B-B14F-4D97-AF65-F5344CB8AC3E}">
        <p14:creationId xmlns:p14="http://schemas.microsoft.com/office/powerpoint/2010/main" val="10963740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adb3af8b5343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20700" y="673100"/>
            <a:ext cx="23342600" cy="12369800"/>
          </a:xfrm>
          <a:prstGeom xmlns:a="http://schemas.openxmlformats.org/drawingml/2006/main" prst="rect">
            <a:avLst/>
          </a:prstGeom>
        </p:spPr>
      </p:pic>
      <p:pic>
        <p:nvPicPr>
          <p:cNvPr id="4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3d24e8a0449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08000" y="660400"/>
            <a:ext cx="23380700" cy="124079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d8e1a1425744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67100"/>
            <a:ext cx="21259800" cy="1079500"/>
          </a:xfrm>
          <a:prstGeom xmlns:a="http://schemas.openxmlformats.org/drawingml/2006/main" prst="rect">
            <a:avLst/>
          </a:prstGeom>
        </p:spPr>
      </p:pic>
      <p:pic>
        <p:nvPicPr>
          <p:cNvPr id="4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a95ecd89a44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1785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a95ecd89a44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879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a95ecd89a44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41700"/>
            <a:ext cx="21272500" cy="50800"/>
          </a:xfrm>
          <a:prstGeom xmlns:a="http://schemas.openxmlformats.org/drawingml/2006/main" prst="rect">
            <a:avLst/>
          </a:prstGeom>
        </p:spPr>
      </p:pic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AC907794-9EB0-41E8-9CE2-27B751CA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12153900"/>
            <a:ext cx="213487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133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· Developer Portfolio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E0EE358-CC9B-4D71-88CF-D9599710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117600"/>
            <a:ext cx="2132330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8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PROJECT PORTFOLIO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72FBC4-96F4-4648-A06A-CD42A01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500" y="2184400"/>
            <a:ext cx="21437600" cy="92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5066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문제 정의와 설계 목표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8EFE197-C48F-4DD1-9B07-17DBDC1A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700" y="2171700"/>
            <a:ext cx="55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1999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04</a:t>
            </a:r>
          </a:p>
        </p:txBody>
      </p:sp>
      <p:pic>
        <p:nvPicPr>
          <p:cNvPr id="5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aaf7d302b4b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4508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57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d15b83dc241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5321300" y="8140700"/>
            <a:ext cx="6451600" cy="50800"/>
          </a:xfrm>
          <a:prstGeom xmlns:a="http://schemas.openxmlformats.org/drawingml/2006/main" prst="rect">
            <a:avLst/>
          </a:prstGeom>
        </p:spPr>
      </p:pic>
      <p:pic>
        <p:nvPicPr>
          <p:cNvPr id="58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d15b83dc241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12611100" y="8140700"/>
            <a:ext cx="6451600" cy="50800"/>
          </a:xfrm>
          <a:prstGeom xmlns:a="http://schemas.openxmlformats.org/drawingml/2006/main" prst="rect">
            <a:avLst/>
          </a:prstGeom>
        </p:spPr>
      </p:pic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24A5496-304F-472A-9361-06C0CB4C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9600" y="3695700"/>
            <a:ext cx="206375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응급 상황에서는 더 많은 정보보다 빠르게 판단하고 바로 행동할 수 있는 정보 구조가 중요했습니다.</a:t>
            </a:r>
          </a:p>
        </p:txBody>
      </p:sp>
      <p:pic>
        <p:nvPicPr>
          <p:cNvPr id="60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0535ef92845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8C2CC54-E340-4367-BE59-21D72E8D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문제 01 · 분산된 정보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508CA56-2C48-4868-86B6-B5CCF7B9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거리, 진료과, 실시간 병상, 장비, 중증 질환 가능 여부를 서로 다른 화면과 기관에서 확인해야 했습니다.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7C9A28D-2662-47FA-8052-61C4C425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SEARCH FRICTION</a:t>
            </a:r>
          </a:p>
        </p:txBody>
      </p:sp>
      <p:pic>
        <p:nvPicPr>
          <p:cNvPr id="64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0535ef92845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88519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664FFB1-FD86-47A3-A10F-01BBB278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문제 02 · 신뢰 간극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9F0B644-BE4B-4112-9AF8-9445BD1D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공공데이터의 갱신 시각과 실제 수용 여부 사이에 차이가 있어 화면 정보만으로 확정 판단하면 위험했습니다.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81AF177-CDBE-43F9-B68A-01BDA0B4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DATA ≠ GUARANTEE</a:t>
            </a:r>
          </a:p>
        </p:txBody>
      </p:sp>
      <p:pic>
        <p:nvPicPr>
          <p:cNvPr id="68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0535ef92845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6154400" y="10375900"/>
            <a:ext cx="6667500" cy="50800"/>
          </a:xfrm>
          <a:prstGeom xmlns:a="http://schemas.openxmlformats.org/drawingml/2006/main" prst="rect">
            <a:avLst/>
          </a:prstGeom>
        </p:spPr>
      </p:pic>
      <p:pic>
        <p:nvPicPr>
          <p:cNvPr id="69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4d607450b4b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1214100" y="5041900"/>
            <a:ext cx="1943100" cy="1943100"/>
          </a:xfrm>
          <a:prstGeom xmlns:a="http://schemas.openxmlformats.org/drawingml/2006/main" prst="rect">
            <a:avLst/>
          </a:prstGeom>
        </p:spPr>
      </p:pic>
      <p:pic>
        <p:nvPicPr>
          <p:cNvPr id="70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7e30a45d44b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3822700" y="4953000"/>
            <a:ext cx="2133600" cy="2133600"/>
          </a:xfrm>
          <a:prstGeom xmlns:a="http://schemas.openxmlformats.org/drawingml/2006/main" prst="rect">
            <a:avLst/>
          </a:prstGeom>
        </p:spPr>
      </p:pic>
      <p:pic>
        <p:nvPicPr>
          <p:cNvPr id="71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a673bfe5840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8491200" y="5016500"/>
            <a:ext cx="1993900" cy="1993900"/>
          </a:xfrm>
          <a:prstGeom xmlns:a="http://schemas.openxmlformats.org/drawingml/2006/main" prst="rect">
            <a:avLst/>
          </a:prstGeom>
        </p:spPr>
      </p:pic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0E7D429-A81A-4A26-9DE1-5343B661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036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목표 · 행동 연결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672916F9-164E-4559-B19E-3D95D106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현재 위치 기반 검색, 조건 비교, 병원 전화, 119 연결, 위치·의료정보 공유를 끊기지 않는 흐름으로 설계했습니다.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3D249C6A-108B-4857-8730-D1FD3EC8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SEARCH → VERIFY → ACT</a:t>
            </a:r>
          </a:p>
        </p:txBody>
      </p:sp>
    </p:spTree>
    <p:extLst>
      <p:ext uri="{BB962C8B-B14F-4D97-AF65-F5344CB8AC3E}">
        <p14:creationId xmlns:p14="http://schemas.microsoft.com/office/powerpoint/2010/main" val="10963740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b71d5203b42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20700" y="673100"/>
            <a:ext cx="23342600" cy="12369800"/>
          </a:xfrm>
          <a:prstGeom xmlns:a="http://schemas.openxmlformats.org/drawingml/2006/main" prst="rect">
            <a:avLst/>
          </a:prstGeom>
        </p:spPr>
      </p:pic>
      <p:pic>
        <p:nvPicPr>
          <p:cNvPr id="4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42096eecf48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08000" y="660400"/>
            <a:ext cx="23380700" cy="124079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40e96465046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67100"/>
            <a:ext cx="21259800" cy="1079500"/>
          </a:xfrm>
          <a:prstGeom xmlns:a="http://schemas.openxmlformats.org/drawingml/2006/main" prst="rect">
            <a:avLst/>
          </a:prstGeom>
        </p:spPr>
      </p:pic>
      <p:pic>
        <p:nvPicPr>
          <p:cNvPr id="4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5549c385b49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1785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5549c385b49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879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5549c385b49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41700"/>
            <a:ext cx="21272500" cy="50800"/>
          </a:xfrm>
          <a:prstGeom xmlns:a="http://schemas.openxmlformats.org/drawingml/2006/main" prst="rect">
            <a:avLst/>
          </a:prstGeom>
        </p:spPr>
      </p:pic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AC907794-9EB0-41E8-9CE2-27B751CA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12153900"/>
            <a:ext cx="213487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133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· Developer Portfolio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E0EE358-CC9B-4D71-88CF-D9599710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117600"/>
            <a:ext cx="2132330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8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PROJECT PORTFOLIO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72FBC4-96F4-4648-A06A-CD42A01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500" y="2184400"/>
            <a:ext cx="21437600" cy="92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5066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기능 범위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8EFE197-C48F-4DD1-9B07-17DBDC1A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700" y="2171700"/>
            <a:ext cx="55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1999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05</a:t>
            </a:r>
          </a:p>
        </p:txBody>
      </p:sp>
      <p:pic>
        <p:nvPicPr>
          <p:cNvPr id="5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44d318a5849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4508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57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429e38aa448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5321300" y="8140700"/>
            <a:ext cx="6451600" cy="50800"/>
          </a:xfrm>
          <a:prstGeom xmlns:a="http://schemas.openxmlformats.org/drawingml/2006/main" prst="rect">
            <a:avLst/>
          </a:prstGeom>
        </p:spPr>
      </p:pic>
      <p:pic>
        <p:nvPicPr>
          <p:cNvPr id="58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429e38aa448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12611100" y="8140700"/>
            <a:ext cx="6451600" cy="50800"/>
          </a:xfrm>
          <a:prstGeom xmlns:a="http://schemas.openxmlformats.org/drawingml/2006/main" prst="rect">
            <a:avLst/>
          </a:prstGeom>
        </p:spPr>
      </p:pic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24A5496-304F-472A-9361-06C0CB4C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9600" y="3695700"/>
            <a:ext cx="206375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사용자 기능과 운영 기능을 함께 구현해 실제 서비스 형태로 완성했습니다.</a:t>
            </a:r>
          </a:p>
        </p:txBody>
      </p:sp>
      <p:pic>
        <p:nvPicPr>
          <p:cNvPr id="60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60cc57ab34a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8C2CC54-E340-4367-BE59-21D72E8D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탐색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508CA56-2C48-4868-86B6-B5CCF7B9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위치·지역·전국 키워드 검색, 증상/진료과/병상/장비/중증 필터, 거리·가용자원·추천순 정렬.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7C9A28D-2662-47FA-8052-61C4C425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EMERGENCY SEARCH</a:t>
            </a:r>
          </a:p>
        </p:txBody>
      </p:sp>
      <p:pic>
        <p:nvPicPr>
          <p:cNvPr id="64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60cc57ab34a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88519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664FFB1-FD86-47A3-A10F-01BBB278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행동과 기록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9F0B644-BE4B-4112-9AF8-9445BD1D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병원·119·보호자 전화, 위치/의료정보 공유, 즐겨찾기, 최근 본 병원 5개, 오프라인 응급 안내.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81AF177-CDBE-43F9-B68A-01BDA0B4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ACTION &amp; SAFETY</a:t>
            </a:r>
          </a:p>
        </p:txBody>
      </p:sp>
      <p:pic>
        <p:nvPicPr>
          <p:cNvPr id="68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60cc57ab34a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6154400" y="10375900"/>
            <a:ext cx="6667500" cy="50800"/>
          </a:xfrm>
          <a:prstGeom xmlns:a="http://schemas.openxmlformats.org/drawingml/2006/main" prst="rect">
            <a:avLst/>
          </a:prstGeom>
        </p:spPr>
      </p:pic>
      <p:pic>
        <p:nvPicPr>
          <p:cNvPr id="69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8f97fcba14e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1214100" y="5041900"/>
            <a:ext cx="1943100" cy="1943100"/>
          </a:xfrm>
          <a:prstGeom xmlns:a="http://schemas.openxmlformats.org/drawingml/2006/main" prst="rect">
            <a:avLst/>
          </a:prstGeom>
        </p:spPr>
      </p:pic>
      <p:pic>
        <p:nvPicPr>
          <p:cNvPr id="70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5afb3da3d48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3822700" y="4953000"/>
            <a:ext cx="2133600" cy="2133600"/>
          </a:xfrm>
          <a:prstGeom xmlns:a="http://schemas.openxmlformats.org/drawingml/2006/main" prst="rect">
            <a:avLst/>
          </a:prstGeom>
        </p:spPr>
      </p:pic>
      <p:pic>
        <p:nvPicPr>
          <p:cNvPr id="71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167a101064f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8491200" y="5016500"/>
            <a:ext cx="1993900" cy="1993900"/>
          </a:xfrm>
          <a:prstGeom xmlns:a="http://schemas.openxmlformats.org/drawingml/2006/main" prst="rect">
            <a:avLst/>
          </a:prstGeom>
        </p:spPr>
      </p:pic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0E7D429-A81A-4A26-9DE1-5343B661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036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커뮤니티 운영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672916F9-164E-4559-B19E-3D95D106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게시글·댓글·좋아요·신고, 작성 비밀번호, 관리자 인증·세션·신고 처리 정책까지 포함했습니다.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3D249C6A-108B-4857-8730-D1FD3EC8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UGC &amp; MODERATION</a:t>
            </a:r>
          </a:p>
        </p:txBody>
      </p:sp>
    </p:spTree>
    <p:extLst>
      <p:ext uri="{BB962C8B-B14F-4D97-AF65-F5344CB8AC3E}">
        <p14:creationId xmlns:p14="http://schemas.microsoft.com/office/powerpoint/2010/main" val="10963740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fb9e5762249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20700" y="673100"/>
            <a:ext cx="23342600" cy="12369800"/>
          </a:xfrm>
          <a:prstGeom xmlns:a="http://schemas.openxmlformats.org/drawingml/2006/main" prst="rect">
            <a:avLst/>
          </a:prstGeom>
        </p:spPr>
      </p:pic>
      <p:pic>
        <p:nvPicPr>
          <p:cNvPr id="4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e9b2dd8fd4f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08000" y="660400"/>
            <a:ext cx="23380700" cy="124079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00726457c4a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67100"/>
            <a:ext cx="21259800" cy="1079500"/>
          </a:xfrm>
          <a:prstGeom xmlns:a="http://schemas.openxmlformats.org/drawingml/2006/main" prst="rect">
            <a:avLst/>
          </a:prstGeom>
        </p:spPr>
      </p:pic>
      <p:pic>
        <p:nvPicPr>
          <p:cNvPr id="4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fbbaeef3e4e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1785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fbbaeef3e4e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879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fbbaeef3e4e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41700"/>
            <a:ext cx="21272500" cy="50800"/>
          </a:xfrm>
          <a:prstGeom xmlns:a="http://schemas.openxmlformats.org/drawingml/2006/main" prst="rect">
            <a:avLst/>
          </a:prstGeom>
        </p:spPr>
      </p:pic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AC907794-9EB0-41E8-9CE2-27B751CA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12153900"/>
            <a:ext cx="213487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133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· Developer Portfolio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E0EE358-CC9B-4D71-88CF-D9599710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117600"/>
            <a:ext cx="2132330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8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PROJECT PORTFOLIO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72FBC4-96F4-4648-A06A-CD42A01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500" y="2184400"/>
            <a:ext cx="21437600" cy="92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5066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핵심 사용자 흐름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8EFE197-C48F-4DD1-9B07-17DBDC1A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700" y="2171700"/>
            <a:ext cx="55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1999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06</a:t>
            </a:r>
          </a:p>
        </p:txBody>
      </p:sp>
      <p:pic>
        <p:nvPicPr>
          <p:cNvPr id="5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ac795540e40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4508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57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e4ffcfec744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5321300" y="8140700"/>
            <a:ext cx="6451600" cy="50800"/>
          </a:xfrm>
          <a:prstGeom xmlns:a="http://schemas.openxmlformats.org/drawingml/2006/main" prst="rect">
            <a:avLst/>
          </a:prstGeom>
        </p:spPr>
      </p:pic>
      <p:pic>
        <p:nvPicPr>
          <p:cNvPr id="58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e4ffcfec744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12611100" y="8140700"/>
            <a:ext cx="6451600" cy="50800"/>
          </a:xfrm>
          <a:prstGeom xmlns:a="http://schemas.openxmlformats.org/drawingml/2006/main" prst="rect">
            <a:avLst/>
          </a:prstGeom>
        </p:spPr>
      </p:pic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24A5496-304F-472A-9361-06C0CB4C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9600" y="3695700"/>
            <a:ext cx="206375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권한 거부나 데이터 지연이 있어도 사용자가 다음 행동을 이어갈 수 있도록 실패 경로까지 설계했습니다.</a:t>
            </a:r>
          </a:p>
        </p:txBody>
      </p:sp>
      <p:pic>
        <p:nvPicPr>
          <p:cNvPr id="60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d05fc73dc4c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8C2CC54-E340-4367-BE59-21D72E8D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01 · 입력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508CA56-2C48-4868-86B6-B5CCF7B9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홈에서 119를 우선 노출하고 위치 권한, 직접 지역 입력, 증상·세부 조건 선택을 제공합니다.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7C9A28D-2662-47FA-8052-61C4C425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CONSENT · LOCATION</a:t>
            </a:r>
          </a:p>
        </p:txBody>
      </p:sp>
      <p:pic>
        <p:nvPicPr>
          <p:cNvPr id="64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d05fc73dc4c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88519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664FFB1-FD86-47A3-A10F-01BBB278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02 · 판단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9F0B644-BE4B-4112-9AF8-9445BD1D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병원 카드에서 거리, 병상, 진료 가능성, 장비, 데이터 갱신 기준을 비교하고 상세 정보를 확인합니다.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81AF177-CDBE-43F9-B68A-01BDA0B4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FILTER · RANKING</a:t>
            </a:r>
          </a:p>
        </p:txBody>
      </p:sp>
      <p:pic>
        <p:nvPicPr>
          <p:cNvPr id="68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d05fc73dc4c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6154400" y="10375900"/>
            <a:ext cx="6667500" cy="50800"/>
          </a:xfrm>
          <a:prstGeom xmlns:a="http://schemas.openxmlformats.org/drawingml/2006/main" prst="rect">
            <a:avLst/>
          </a:prstGeom>
        </p:spPr>
      </p:pic>
      <p:pic>
        <p:nvPicPr>
          <p:cNvPr id="69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0eeef8cc141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1214100" y="5041900"/>
            <a:ext cx="1943100" cy="1943100"/>
          </a:xfrm>
          <a:prstGeom xmlns:a="http://schemas.openxmlformats.org/drawingml/2006/main" prst="rect">
            <a:avLst/>
          </a:prstGeom>
        </p:spPr>
      </p:pic>
      <p:pic>
        <p:nvPicPr>
          <p:cNvPr id="70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801086bbe42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3822700" y="4953000"/>
            <a:ext cx="2133600" cy="2133600"/>
          </a:xfrm>
          <a:prstGeom xmlns:a="http://schemas.openxmlformats.org/drawingml/2006/main" prst="rect">
            <a:avLst/>
          </a:prstGeom>
        </p:spPr>
      </p:pic>
      <p:pic>
        <p:nvPicPr>
          <p:cNvPr id="71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4abcd2a8e4a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8491200" y="5016500"/>
            <a:ext cx="1993900" cy="1993900"/>
          </a:xfrm>
          <a:prstGeom xmlns:a="http://schemas.openxmlformats.org/drawingml/2006/main" prst="rect">
            <a:avLst/>
          </a:prstGeom>
        </p:spPr>
      </p:pic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0E7D429-A81A-4A26-9DE1-5343B661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036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03 · 행동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672916F9-164E-4559-B19E-3D95D106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병원 전화, 지도 이동, 119 연결, 보호자에게 현재 위치와 의료정보 공유로 즉시 이어집니다.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3D249C6A-108B-4857-8730-D1FD3EC8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CALL · MAP · SHARE</a:t>
            </a:r>
          </a:p>
        </p:txBody>
      </p:sp>
    </p:spTree>
    <p:extLst>
      <p:ext uri="{BB962C8B-B14F-4D97-AF65-F5344CB8AC3E}">
        <p14:creationId xmlns:p14="http://schemas.microsoft.com/office/powerpoint/2010/main" val="10963740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6f799800145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20700" y="673100"/>
            <a:ext cx="23342600" cy="12369800"/>
          </a:xfrm>
          <a:prstGeom xmlns:a="http://schemas.openxmlformats.org/drawingml/2006/main" prst="rect">
            <a:avLst/>
          </a:prstGeom>
        </p:spPr>
      </p:pic>
      <p:pic>
        <p:nvPicPr>
          <p:cNvPr id="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adde8df8740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08000" y="660400"/>
            <a:ext cx="23380700" cy="12407900"/>
          </a:xfrm>
          <a:prstGeom xmlns:a="http://schemas.openxmlformats.org/drawingml/2006/main" prst="rect">
            <a:avLst/>
          </a:prstGeom>
        </p:spPr>
      </p:pic>
      <p:pic>
        <p:nvPicPr>
          <p:cNvPr id="3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7a8860f224e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67100"/>
            <a:ext cx="21259800" cy="1079500"/>
          </a:xfrm>
          <a:prstGeom xmlns:a="http://schemas.openxmlformats.org/drawingml/2006/main" prst="rect">
            <a:avLst/>
          </a:prstGeom>
        </p:spPr>
      </p:pic>
      <p:pic>
        <p:nvPicPr>
          <p:cNvPr id="4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5d590c0bb4e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1785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4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5d590c0bb4e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879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4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5d590c0bb4e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41700"/>
            <a:ext cx="21272500" cy="50800"/>
          </a:xfrm>
          <a:prstGeom xmlns:a="http://schemas.openxmlformats.org/drawingml/2006/main" prst="rect">
            <a:avLst/>
          </a:prstGeom>
        </p:spPr>
      </p:pic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850B6C9-11C5-4AF6-9A66-E5FA5718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12153900"/>
            <a:ext cx="213487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133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· 화면과 코드가 연결되는 구현 근거를 정리했습니다.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8C6B3EE-57CE-43F4-A0A3-A93C767C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117600"/>
            <a:ext cx="2132330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8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PROJECT PORTFOLIO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429EDAE-481B-49A2-BCEE-D454F13B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500" y="2184400"/>
            <a:ext cx="21437600" cy="92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5066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홈 화면 · 위기 순간의 우선순위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C230629-D3D5-4AAC-BE73-6B0488A6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700" y="2171700"/>
            <a:ext cx="55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1999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07</a:t>
            </a:r>
          </a:p>
        </p:txBody>
      </p:sp>
      <p:pic>
        <p:nvPicPr>
          <p:cNvPr id="47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e2a02447042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4508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e2a02447042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6159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49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2f87bdc0f44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15278100" y="5334000"/>
            <a:ext cx="889000" cy="508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2f87bdc0f44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8216900" y="5334000"/>
            <a:ext cx="889000" cy="508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1f76daaa04d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9804400" y="8966200"/>
            <a:ext cx="4775200" cy="50800"/>
          </a:xfrm>
          <a:prstGeom xmlns:a="http://schemas.openxmlformats.org/drawingml/2006/main" prst="rect">
            <a:avLst/>
          </a:prstGeom>
        </p:spPr>
      </p:pic>
      <p:pic>
        <p:nvPicPr>
          <p:cNvPr id="52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0962d178243c5"/>
          <a:stretch xmlns:a="http://schemas.openxmlformats.org/drawingml/2006/main"/>
        </p:blipFill>
        <p:spPr>
          <a:xfrm xmlns:a="http://schemas.openxmlformats.org/drawingml/2006/main" rot="0">
            <a:off x="2871825" y="6604000"/>
            <a:ext cx="2206550" cy="4775200"/>
          </a:xfrm>
          <a:prstGeom xmlns:a="http://schemas.openxmlformats.org/drawingml/2006/main" prst="rect">
            <a:avLst/>
          </a:prstGeom>
        </p:spPr>
      </p:pic>
      <p:pic>
        <p:nvPicPr>
          <p:cNvPr id="53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0962d178243c5"/>
          <a:stretch xmlns:a="http://schemas.openxmlformats.org/drawingml/2006/main"/>
        </p:blipFill>
        <p:spPr>
          <a:xfrm xmlns:a="http://schemas.openxmlformats.org/drawingml/2006/main" rot="0">
            <a:off x="8078825" y="6604000"/>
            <a:ext cx="2206550" cy="47752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6E0483C9-C05A-49AB-B7A8-9C9A3820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9600" y="3695700"/>
            <a:ext cx="206375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HOME / FIRST ACTION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D5D610B-5B7A-4E36-A803-4FB6C195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5130800"/>
            <a:ext cx="6604000" cy="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2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EXPO ROUTER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30C60C1-F109-4577-9F82-64D61F8F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0000" y="5130800"/>
            <a:ext cx="6604000" cy="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2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LOCATION · 119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A0014779-4D63-4B66-85EA-C132F107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68700" y="5130800"/>
            <a:ext cx="6604000" cy="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2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2026.07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BACB3CBB-D15A-4DCB-B5D9-8D9A206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1900" y="6692900"/>
            <a:ext cx="10337800" cy="459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구현 포인트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• 가장 먼저 119와 현재 위치 확인을 노출했습니다.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• 위치 권한은 초기 동의 후 필요한 순간에만 요청합니다.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• 권한 거부 시 지역 직접 검색으로 전환해 흐름이 끊기지 않습니다.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• 응급실, AED, 응급처치, 의료정보 메뉴를 행동 목적별로 분리했습니다.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개발 관점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Expo Router 기반 화면 이동, 위치 서비스 추상화, 서버 주소 단일 설정(src/config/api.ts)을 적용했습니다.</a:t>
            </a:r>
          </a:p>
        </p:txBody>
      </p:sp>
    </p:spTree>
    <p:extLst>
      <p:ext uri="{BB962C8B-B14F-4D97-AF65-F5344CB8AC3E}">
        <p14:creationId xmlns:p14="http://schemas.microsoft.com/office/powerpoint/2010/main" val="17601005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314005f144c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20700" y="673100"/>
            <a:ext cx="23342600" cy="12369800"/>
          </a:xfrm>
          <a:prstGeom xmlns:a="http://schemas.openxmlformats.org/drawingml/2006/main" prst="rect">
            <a:avLst/>
          </a:prstGeom>
        </p:spPr>
      </p:pic>
      <p:pic>
        <p:nvPicPr>
          <p:cNvPr id="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9732cd00549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08000" y="660400"/>
            <a:ext cx="23380700" cy="12407900"/>
          </a:xfrm>
          <a:prstGeom xmlns:a="http://schemas.openxmlformats.org/drawingml/2006/main" prst="rect">
            <a:avLst/>
          </a:prstGeom>
        </p:spPr>
      </p:pic>
      <p:pic>
        <p:nvPicPr>
          <p:cNvPr id="3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5be295ba642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67100"/>
            <a:ext cx="21259800" cy="1079500"/>
          </a:xfrm>
          <a:prstGeom xmlns:a="http://schemas.openxmlformats.org/drawingml/2006/main" prst="rect">
            <a:avLst/>
          </a:prstGeom>
        </p:spPr>
      </p:pic>
      <p:pic>
        <p:nvPicPr>
          <p:cNvPr id="4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fe52d1fe34b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1785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4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fe52d1fe34b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879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4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fe52d1fe34b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41700"/>
            <a:ext cx="21272500" cy="50800"/>
          </a:xfrm>
          <a:prstGeom xmlns:a="http://schemas.openxmlformats.org/drawingml/2006/main" prst="rect">
            <a:avLst/>
          </a:prstGeom>
        </p:spPr>
      </p:pic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850B6C9-11C5-4AF6-9A66-E5FA5718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12153900"/>
            <a:ext cx="213487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133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· 화면과 코드가 연결되는 구현 근거를 정리했습니다.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8C6B3EE-57CE-43F4-A0A3-A93C767C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117600"/>
            <a:ext cx="2132330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8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PROJECT PORTFOLIO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429EDAE-481B-49A2-BCEE-D454F13B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500" y="2184400"/>
            <a:ext cx="21437600" cy="92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5066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응급실 검색 · 조건을 API 계약으로 연결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C230629-D3D5-4AAC-BE73-6B0488A6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700" y="2171700"/>
            <a:ext cx="55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1999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08</a:t>
            </a:r>
          </a:p>
        </p:txBody>
      </p:sp>
      <p:pic>
        <p:nvPicPr>
          <p:cNvPr id="47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c657dc7e344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4508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c657dc7e344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6159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49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ff8b0af8545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15278100" y="5334000"/>
            <a:ext cx="889000" cy="508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ff8b0af8545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8216900" y="5334000"/>
            <a:ext cx="889000" cy="508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384e0ed9741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9804400" y="8966200"/>
            <a:ext cx="4775200" cy="50800"/>
          </a:xfrm>
          <a:prstGeom xmlns:a="http://schemas.openxmlformats.org/drawingml/2006/main" prst="rect">
            <a:avLst/>
          </a:prstGeom>
        </p:spPr>
      </p:pic>
      <p:pic>
        <p:nvPicPr>
          <p:cNvPr id="52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26dfa589b42f7"/>
          <a:stretch xmlns:a="http://schemas.openxmlformats.org/drawingml/2006/main"/>
        </p:blipFill>
        <p:spPr>
          <a:xfrm xmlns:a="http://schemas.openxmlformats.org/drawingml/2006/main" rot="0">
            <a:off x="2871825" y="6604000"/>
            <a:ext cx="2206550" cy="4775200"/>
          </a:xfrm>
          <a:prstGeom xmlns:a="http://schemas.openxmlformats.org/drawingml/2006/main" prst="rect">
            <a:avLst/>
          </a:prstGeom>
        </p:spPr>
      </p:pic>
      <p:pic>
        <p:nvPicPr>
          <p:cNvPr id="53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26dfa589b42f7"/>
          <a:stretch xmlns:a="http://schemas.openxmlformats.org/drawingml/2006/main"/>
        </p:blipFill>
        <p:spPr>
          <a:xfrm xmlns:a="http://schemas.openxmlformats.org/drawingml/2006/main" rot="0">
            <a:off x="8078825" y="6604000"/>
            <a:ext cx="2206550" cy="47752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6E0483C9-C05A-49AB-B7A8-9C9A3820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9600" y="3695700"/>
            <a:ext cx="206375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SEARCH / FILTER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D5D610B-5B7A-4E36-A803-4FB6C195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5130800"/>
            <a:ext cx="6604000" cy="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2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14 SCREENS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30C60C1-F109-4577-9F82-64D61F8F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0000" y="5130800"/>
            <a:ext cx="6604000" cy="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2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7 BED · 7 FACILITY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A0014779-4D63-4B66-85EA-C132F107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68700" y="5130800"/>
            <a:ext cx="6604000" cy="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2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11 SEVERE TYPES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BACB3CBB-D15A-4DCB-B5D9-8D9A206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1900" y="6692900"/>
            <a:ext cx="10337800" cy="459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검색 조건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• 정렬: 거리 / 응급실 병상 / 중환자실 / 수술실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• 진료과, 7종 병상, 7종 장비, 11종 중증 질환 필터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• 앱 query params → Controller request params → Service filtering을 동일 계약으로 유지했습니다.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결과 표현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추천 점수와 거리를 함께 제공하고, 실시간 정보는 “가능 여부”가 아니라 데이터 기반 참고 정보임을 명시했습니다.</a:t>
            </a:r>
          </a:p>
        </p:txBody>
      </p:sp>
    </p:spTree>
    <p:extLst>
      <p:ext uri="{BB962C8B-B14F-4D97-AF65-F5344CB8AC3E}">
        <p14:creationId xmlns:p14="http://schemas.microsoft.com/office/powerpoint/2010/main" val="17601005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c777bd7724f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20700" y="673100"/>
            <a:ext cx="23342600" cy="12369800"/>
          </a:xfrm>
          <a:prstGeom xmlns:a="http://schemas.openxmlformats.org/drawingml/2006/main" prst="rect">
            <a:avLst/>
          </a:prstGeom>
        </p:spPr>
      </p:pic>
      <p:pic>
        <p:nvPicPr>
          <p:cNvPr id="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2b83d6074241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08000" y="660400"/>
            <a:ext cx="23380700" cy="12407900"/>
          </a:xfrm>
          <a:prstGeom xmlns:a="http://schemas.openxmlformats.org/drawingml/2006/main" prst="rect">
            <a:avLst/>
          </a:prstGeom>
        </p:spPr>
      </p:pic>
      <p:pic>
        <p:nvPicPr>
          <p:cNvPr id="3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44c6ff37f46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67100"/>
            <a:ext cx="21259800" cy="1079500"/>
          </a:xfrm>
          <a:prstGeom xmlns:a="http://schemas.openxmlformats.org/drawingml/2006/main" prst="rect">
            <a:avLst/>
          </a:prstGeom>
        </p:spPr>
      </p:pic>
      <p:pic>
        <p:nvPicPr>
          <p:cNvPr id="4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d410f43e04c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1785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4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d410f43e04c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879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4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d410f43e04c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41700"/>
            <a:ext cx="21272500" cy="50800"/>
          </a:xfrm>
          <a:prstGeom xmlns:a="http://schemas.openxmlformats.org/drawingml/2006/main" prst="rect">
            <a:avLst/>
          </a:prstGeom>
        </p:spPr>
      </p:pic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850B6C9-11C5-4AF6-9A66-E5FA5718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12153900"/>
            <a:ext cx="213487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133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· 화면과 코드가 연결되는 구현 근거를 정리했습니다.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8C6B3EE-57CE-43F4-A0A3-A93C767C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117600"/>
            <a:ext cx="2132330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8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PROJECT PORTFOLIO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429EDAE-481B-49A2-BCEE-D454F13B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500" y="2184400"/>
            <a:ext cx="21437600" cy="92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5066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지도 · 네이티브와 안전한 대체 경로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C230629-D3D5-4AAC-BE73-6B0488A6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700" y="2171700"/>
            <a:ext cx="55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1999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09</a:t>
            </a:r>
          </a:p>
        </p:txBody>
      </p:sp>
      <p:pic>
        <p:nvPicPr>
          <p:cNvPr id="47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0ff46f16944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4508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0ff46f16944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6159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49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0ac924fa045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15278100" y="5334000"/>
            <a:ext cx="889000" cy="508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0ac924fa045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8216900" y="5334000"/>
            <a:ext cx="889000" cy="508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efffbfa584f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9804400" y="8966200"/>
            <a:ext cx="4775200" cy="50800"/>
          </a:xfrm>
          <a:prstGeom xmlns:a="http://schemas.openxmlformats.org/drawingml/2006/main" prst="rect">
            <a:avLst/>
          </a:prstGeom>
        </p:spPr>
      </p:pic>
      <p:pic>
        <p:nvPicPr>
          <p:cNvPr id="52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e85f278e1465e"/>
          <a:stretch xmlns:a="http://schemas.openxmlformats.org/drawingml/2006/main"/>
        </p:blipFill>
        <p:spPr>
          <a:xfrm xmlns:a="http://schemas.openxmlformats.org/drawingml/2006/main" rot="0">
            <a:off x="2871825" y="6604000"/>
            <a:ext cx="2206550" cy="4775200"/>
          </a:xfrm>
          <a:prstGeom xmlns:a="http://schemas.openxmlformats.org/drawingml/2006/main" prst="rect">
            <a:avLst/>
          </a:prstGeom>
        </p:spPr>
      </p:pic>
      <p:pic>
        <p:nvPicPr>
          <p:cNvPr id="53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e85f278e1465e"/>
          <a:stretch xmlns:a="http://schemas.openxmlformats.org/drawingml/2006/main"/>
        </p:blipFill>
        <p:spPr>
          <a:xfrm xmlns:a="http://schemas.openxmlformats.org/drawingml/2006/main" rot="0">
            <a:off x="8078825" y="6604000"/>
            <a:ext cx="2206550" cy="47752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6E0483C9-C05A-49AB-B7A8-9C9A3820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9600" y="3695700"/>
            <a:ext cx="206375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NAVER MAP / NATIVE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D5D610B-5B7A-4E36-A803-4FB6C195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5130800"/>
            <a:ext cx="6604000" cy="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2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ANDROID NATIVE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30C60C1-F109-4577-9F82-64D61F8F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0000" y="5130800"/>
            <a:ext cx="6604000" cy="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2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HPID LINK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A0014779-4D63-4B66-85EA-C132F107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68700" y="5130800"/>
            <a:ext cx="6604000" cy="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2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SAFE FALLBACK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BACB3CBB-D15A-4DCB-B5D9-8D9A206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1900" y="6692900"/>
            <a:ext cx="10337800" cy="459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네이티브 구현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• Naver Dynamic Map에 현재 위치와 병원 마커를 표시합니다.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• 지도 마커와 목록의 병원 식별자를 HPID 기준으로 연결했습니다.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• 마커/카드 선택 후 병원 상세, 전화, 외부 지도 이동으로 이어집니다.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실패 대응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네이티브 모듈이 없는 환경에서는 크래시 대신 안전 목록과 설치 안내를 표시하도록 분기했습니다.</a:t>
            </a:r>
          </a:p>
        </p:txBody>
      </p:sp>
    </p:spTree>
    <p:extLst>
      <p:ext uri="{BB962C8B-B14F-4D97-AF65-F5344CB8AC3E}">
        <p14:creationId xmlns:p14="http://schemas.microsoft.com/office/powerpoint/2010/main" val="17601005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36561593a4a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20700" y="673100"/>
            <a:ext cx="23342600" cy="12369800"/>
          </a:xfrm>
          <a:prstGeom xmlns:a="http://schemas.openxmlformats.org/drawingml/2006/main" prst="rect">
            <a:avLst/>
          </a:prstGeom>
        </p:spPr>
      </p:pic>
      <p:pic>
        <p:nvPicPr>
          <p:cNvPr id="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546610e7a4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08000" y="660400"/>
            <a:ext cx="23380700" cy="12407900"/>
          </a:xfrm>
          <a:prstGeom xmlns:a="http://schemas.openxmlformats.org/drawingml/2006/main" prst="rect">
            <a:avLst/>
          </a:prstGeom>
        </p:spPr>
      </p:pic>
      <p:pic>
        <p:nvPicPr>
          <p:cNvPr id="3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135e4e32c49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67100"/>
            <a:ext cx="21259800" cy="1079500"/>
          </a:xfrm>
          <a:prstGeom xmlns:a="http://schemas.openxmlformats.org/drawingml/2006/main" prst="rect">
            <a:avLst/>
          </a:prstGeom>
        </p:spPr>
      </p:pic>
      <p:pic>
        <p:nvPicPr>
          <p:cNvPr id="4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84c71dab448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1785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4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84c71dab448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879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4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84c71dab448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41700"/>
            <a:ext cx="21272500" cy="50800"/>
          </a:xfrm>
          <a:prstGeom xmlns:a="http://schemas.openxmlformats.org/drawingml/2006/main" prst="rect">
            <a:avLst/>
          </a:prstGeom>
        </p:spPr>
      </p:pic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850B6C9-11C5-4AF6-9A66-E5FA5718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12153900"/>
            <a:ext cx="213487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133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· 화면과 코드가 연결되는 구현 근거를 정리했습니다.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8C6B3EE-57CE-43F4-A0A3-A93C767C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117600"/>
            <a:ext cx="2132330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8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PROJECT PORTFOLIO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429EDAE-481B-49A2-BCEE-D454F13B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500" y="2184400"/>
            <a:ext cx="21437600" cy="92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5066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의료정보 · 단말 내부 보안 저장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C230629-D3D5-4AAC-BE73-6B0488A6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700" y="2171700"/>
            <a:ext cx="55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1999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10</a:t>
            </a:r>
          </a:p>
        </p:txBody>
      </p:sp>
      <p:pic>
        <p:nvPicPr>
          <p:cNvPr id="47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bc88f34e547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4508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bc88f34e547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6159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49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0cc89e5c14b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15278100" y="5334000"/>
            <a:ext cx="889000" cy="508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0cc89e5c14b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8216900" y="5334000"/>
            <a:ext cx="889000" cy="508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0d355462346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9804400" y="8966200"/>
            <a:ext cx="4775200" cy="50800"/>
          </a:xfrm>
          <a:prstGeom xmlns:a="http://schemas.openxmlformats.org/drawingml/2006/main" prst="rect">
            <a:avLst/>
          </a:prstGeom>
        </p:spPr>
      </p:pic>
      <p:pic>
        <p:nvPicPr>
          <p:cNvPr id="52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9bc74496c4940"/>
          <a:stretch xmlns:a="http://schemas.openxmlformats.org/drawingml/2006/main"/>
        </p:blipFill>
        <p:spPr>
          <a:xfrm xmlns:a="http://schemas.openxmlformats.org/drawingml/2006/main" rot="0">
            <a:off x="2871825" y="6604000"/>
            <a:ext cx="2206550" cy="4775200"/>
          </a:xfrm>
          <a:prstGeom xmlns:a="http://schemas.openxmlformats.org/drawingml/2006/main" prst="rect">
            <a:avLst/>
          </a:prstGeom>
        </p:spPr>
      </p:pic>
      <p:pic>
        <p:nvPicPr>
          <p:cNvPr id="53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9bc74496c4940"/>
          <a:stretch xmlns:a="http://schemas.openxmlformats.org/drawingml/2006/main"/>
        </p:blipFill>
        <p:spPr>
          <a:xfrm xmlns:a="http://schemas.openxmlformats.org/drawingml/2006/main" rot="0">
            <a:off x="8078825" y="6604000"/>
            <a:ext cx="2206550" cy="47752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6E0483C9-C05A-49AB-B7A8-9C9A3820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9600" y="3695700"/>
            <a:ext cx="206375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MEDICAL INFO / SHARE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D5D610B-5B7A-4E36-A803-4FB6C195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5130800"/>
            <a:ext cx="6604000" cy="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2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SECURESTORE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30C60C1-F109-4577-9F82-64D61F8F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0000" y="5130800"/>
            <a:ext cx="6604000" cy="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2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DEVICE ONLY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A0014779-4D63-4B66-85EA-C132F107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68700" y="5130800"/>
            <a:ext cx="6604000" cy="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2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OS SHARE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BACB3CBB-D15A-4DCB-B5D9-8D9A206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1900" y="6692900"/>
            <a:ext cx="10337800" cy="459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민감정보 처리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• 의료정보는 서버 DB가 아니라 Expo SecureStore에 저장합니다.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• 기존 AsyncStorage 값은 보안 저장소로 이전한 뒤 삭제합니다.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• 접근성은 WHEN_UNLOCKED_THIS_DEVICE_ONLY 수준으로 제한했습니다.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사용 흐름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사용자가 직접 선택할 때만 의료정보 단독 또는 현재 위치와 함께 OS 공유창을 열고, 보호자 전화/문자와 119로 연결합니다.</a:t>
            </a:r>
          </a:p>
        </p:txBody>
      </p:sp>
    </p:spTree>
    <p:extLst>
      <p:ext uri="{BB962C8B-B14F-4D97-AF65-F5344CB8AC3E}">
        <p14:creationId xmlns:p14="http://schemas.microsoft.com/office/powerpoint/2010/main" val="17601005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ec26d150f47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20700" y="673100"/>
            <a:ext cx="23342600" cy="12369800"/>
          </a:xfrm>
          <a:prstGeom xmlns:a="http://schemas.openxmlformats.org/drawingml/2006/main" prst="rect">
            <a:avLst/>
          </a:prstGeom>
        </p:spPr>
      </p:pic>
      <p:pic>
        <p:nvPicPr>
          <p:cNvPr id="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3e0f0556f243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08000" y="660400"/>
            <a:ext cx="23380700" cy="12407900"/>
          </a:xfrm>
          <a:prstGeom xmlns:a="http://schemas.openxmlformats.org/drawingml/2006/main" prst="rect">
            <a:avLst/>
          </a:prstGeom>
        </p:spPr>
      </p:pic>
      <p:pic>
        <p:nvPicPr>
          <p:cNvPr id="3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6bea01ceb44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67100"/>
            <a:ext cx="21259800" cy="1079500"/>
          </a:xfrm>
          <a:prstGeom xmlns:a="http://schemas.openxmlformats.org/drawingml/2006/main" prst="rect">
            <a:avLst/>
          </a:prstGeom>
        </p:spPr>
      </p:pic>
      <p:pic>
        <p:nvPicPr>
          <p:cNvPr id="4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90b167cb248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1785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4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90b167cb248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879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4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90b167cb248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41700"/>
            <a:ext cx="21272500" cy="50800"/>
          </a:xfrm>
          <a:prstGeom xmlns:a="http://schemas.openxmlformats.org/drawingml/2006/main" prst="rect">
            <a:avLst/>
          </a:prstGeom>
        </p:spPr>
      </p:pic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850B6C9-11C5-4AF6-9A66-E5FA5718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12153900"/>
            <a:ext cx="213487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133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· 화면과 코드가 연결되는 구현 근거를 정리했습니다.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8C6B3EE-57CE-43F4-A0A3-A93C767C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117600"/>
            <a:ext cx="2132330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8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PROJECT PORTFOLIO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429EDAE-481B-49A2-BCEE-D454F13B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500" y="2184400"/>
            <a:ext cx="21437600" cy="92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5066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커뮤니티 · 작성과 운영을 함께 설계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C230629-D3D5-4AAC-BE73-6B0488A6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700" y="2171700"/>
            <a:ext cx="55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1999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11</a:t>
            </a:r>
          </a:p>
        </p:txBody>
      </p:sp>
      <p:pic>
        <p:nvPicPr>
          <p:cNvPr id="47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33946734745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4508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33946734745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6159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49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f27ce87e947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15278100" y="5334000"/>
            <a:ext cx="889000" cy="508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f27ce87e947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8216900" y="5334000"/>
            <a:ext cx="889000" cy="508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94107b99c40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9804400" y="8966200"/>
            <a:ext cx="4775200" cy="50800"/>
          </a:xfrm>
          <a:prstGeom xmlns:a="http://schemas.openxmlformats.org/drawingml/2006/main" prst="rect">
            <a:avLst/>
          </a:prstGeom>
        </p:spPr>
      </p:pic>
      <p:pic>
        <p:nvPicPr>
          <p:cNvPr id="52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3ae7f04f74fe5"/>
          <a:stretch xmlns:a="http://schemas.openxmlformats.org/drawingml/2006/main"/>
        </p:blipFill>
        <p:spPr>
          <a:xfrm xmlns:a="http://schemas.openxmlformats.org/drawingml/2006/main" rot="0">
            <a:off x="2871825" y="6604000"/>
            <a:ext cx="2206550" cy="4775200"/>
          </a:xfrm>
          <a:prstGeom xmlns:a="http://schemas.openxmlformats.org/drawingml/2006/main" prst="rect">
            <a:avLst/>
          </a:prstGeom>
        </p:spPr>
      </p:pic>
      <p:pic>
        <p:nvPicPr>
          <p:cNvPr id="53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3ae7f04f74fe5"/>
          <a:stretch xmlns:a="http://schemas.openxmlformats.org/drawingml/2006/main"/>
        </p:blipFill>
        <p:spPr>
          <a:xfrm xmlns:a="http://schemas.openxmlformats.org/drawingml/2006/main" rot="0">
            <a:off x="8078825" y="6604000"/>
            <a:ext cx="2206550" cy="47752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6E0483C9-C05A-49AB-B7A8-9C9A3820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9600" y="3695700"/>
            <a:ext cx="206375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COMMUNITY / UGC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D5D610B-5B7A-4E36-A803-4FB6C195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5130800"/>
            <a:ext cx="6604000" cy="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2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POST · COMMENT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30C60C1-F109-4577-9F82-64D61F8F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0000" y="5130800"/>
            <a:ext cx="6604000" cy="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2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REPORT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A0014779-4D63-4B66-85EA-C132F107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68700" y="5130800"/>
            <a:ext cx="6604000" cy="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2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ADMIN SESSION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BACB3CBB-D15A-4DCB-B5D9-8D9A206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1900" y="6692900"/>
            <a:ext cx="10337800" cy="459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사용자 기능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• 게시글/댓글 작성·수정·삭제, 좋아요, 신고, 페이지네이션을 구현했습니다.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• 작성 비밀번호는 BCrypt 해시로만 저장하고 응답 DTO에서 비밀번호 필드를 제외합니다.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운영 기능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정책 동의, 금칙어·연속 작성 제한, 신고 누적 상태 갱신, 관리자 세션과 신고 처리 흐름을 함께 구현했습니다.</a:t>
            </a:r>
          </a:p>
        </p:txBody>
      </p:sp>
    </p:spTree>
    <p:extLst>
      <p:ext uri="{BB962C8B-B14F-4D97-AF65-F5344CB8AC3E}">
        <p14:creationId xmlns:p14="http://schemas.microsoft.com/office/powerpoint/2010/main" val="17601005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4e12623fe46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20700" y="673100"/>
            <a:ext cx="23342600" cy="12369800"/>
          </a:xfrm>
          <a:prstGeom xmlns:a="http://schemas.openxmlformats.org/drawingml/2006/main" prst="rect">
            <a:avLst/>
          </a:prstGeom>
        </p:spPr>
      </p:pic>
      <p:pic>
        <p:nvPicPr>
          <p:cNvPr id="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bbe917f194c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08000" y="660400"/>
            <a:ext cx="23380700" cy="12407900"/>
          </a:xfrm>
          <a:prstGeom xmlns:a="http://schemas.openxmlformats.org/drawingml/2006/main" prst="rect">
            <a:avLst/>
          </a:prstGeom>
        </p:spPr>
      </p:pic>
      <p:pic>
        <p:nvPicPr>
          <p:cNvPr id="3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e02de17a642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67100"/>
            <a:ext cx="21259800" cy="1079500"/>
          </a:xfrm>
          <a:prstGeom xmlns:a="http://schemas.openxmlformats.org/drawingml/2006/main" prst="rect">
            <a:avLst/>
          </a:prstGeom>
        </p:spPr>
      </p:pic>
      <p:pic>
        <p:nvPicPr>
          <p:cNvPr id="4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7d3ba2b1d47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1785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4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7d3ba2b1d47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879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4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7d3ba2b1d47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41700"/>
            <a:ext cx="21272500" cy="50800"/>
          </a:xfrm>
          <a:prstGeom xmlns:a="http://schemas.openxmlformats.org/drawingml/2006/main" prst="rect">
            <a:avLst/>
          </a:prstGeom>
        </p:spPr>
      </p:pic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850B6C9-11C5-4AF6-9A66-E5FA5718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12153900"/>
            <a:ext cx="213487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133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· 화면과 코드가 연결되는 구현 근거를 정리했습니다.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8C6B3EE-57CE-43F4-A0A3-A93C767C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117600"/>
            <a:ext cx="2132330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8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PROJECT PORTFOLIO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429EDAE-481B-49A2-BCEE-D454F13B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500" y="2184400"/>
            <a:ext cx="21437600" cy="92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5066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AED · 신뢰할 수 없는 기능은 보류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C230629-D3D5-4AAC-BE73-6B0488A6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700" y="2171700"/>
            <a:ext cx="55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1999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12</a:t>
            </a:r>
          </a:p>
        </p:txBody>
      </p:sp>
      <p:pic>
        <p:nvPicPr>
          <p:cNvPr id="47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5a4ac56b848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4508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5a4ac56b848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6159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49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34122833e4e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15278100" y="5334000"/>
            <a:ext cx="889000" cy="508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34122833e4e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8216900" y="5334000"/>
            <a:ext cx="889000" cy="508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ea2948be14c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9804400" y="8966200"/>
            <a:ext cx="4775200" cy="50800"/>
          </a:xfrm>
          <a:prstGeom xmlns:a="http://schemas.openxmlformats.org/drawingml/2006/main" prst="rect">
            <a:avLst/>
          </a:prstGeom>
        </p:spPr>
      </p:pic>
      <p:pic>
        <p:nvPicPr>
          <p:cNvPr id="52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fb252e8b3402e"/>
          <a:stretch xmlns:a="http://schemas.openxmlformats.org/drawingml/2006/main"/>
        </p:blipFill>
        <p:spPr>
          <a:xfrm xmlns:a="http://schemas.openxmlformats.org/drawingml/2006/main" rot="0">
            <a:off x="2871825" y="6604000"/>
            <a:ext cx="2206550" cy="4775200"/>
          </a:xfrm>
          <a:prstGeom xmlns:a="http://schemas.openxmlformats.org/drawingml/2006/main" prst="rect">
            <a:avLst/>
          </a:prstGeom>
        </p:spPr>
      </p:pic>
      <p:pic>
        <p:nvPicPr>
          <p:cNvPr id="53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fb252e8b3402e"/>
          <a:stretch xmlns:a="http://schemas.openxmlformats.org/drawingml/2006/main"/>
        </p:blipFill>
        <p:spPr>
          <a:xfrm xmlns:a="http://schemas.openxmlformats.org/drawingml/2006/main" rot="0">
            <a:off x="8078825" y="6604000"/>
            <a:ext cx="2206550" cy="47752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6E0483C9-C05A-49AB-B7A8-9C9A3820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9600" y="3695700"/>
            <a:ext cx="206375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AED / SCOPE DECISION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D5D610B-5B7A-4E36-A803-4FB6C195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5130800"/>
            <a:ext cx="6604000" cy="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2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PUBLIC DATA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30C60C1-F109-4577-9F82-64D61F8F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0000" y="5130800"/>
            <a:ext cx="6604000" cy="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2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FAIL-SAFE UX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A0014779-4D63-4B66-85EA-C132F107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68700" y="5130800"/>
            <a:ext cx="6604000" cy="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2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119 FIRST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BACB3CBB-D15A-4DCB-B5D9-8D9A206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1900" y="6692900"/>
            <a:ext cx="10337800" cy="459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제품 판단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AED 공공데이터 API의 응답 안정성과 이용 조건을 충분히 검증하지 못한 상태에서 검색 결과를 제공하면 잘못된 위치 안내가 될 수 있다고 판단했습니다.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대응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검색 기능은 준비 화면으로 명확히 표시하고, 119 연결과 응급처치 안내를 즉시 제공했습니다. “있는 척하는 기능”보다 위험을 드러내고 안전한 대안을 제공하는 결정을 택했습니다.</a:t>
            </a:r>
          </a:p>
        </p:txBody>
      </p:sp>
    </p:spTree>
    <p:extLst>
      <p:ext uri="{BB962C8B-B14F-4D97-AF65-F5344CB8AC3E}">
        <p14:creationId xmlns:p14="http://schemas.microsoft.com/office/powerpoint/2010/main" val="17601005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e4dda54284c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20700" y="673100"/>
            <a:ext cx="23342600" cy="12369800"/>
          </a:xfrm>
          <a:prstGeom xmlns:a="http://schemas.openxmlformats.org/drawingml/2006/main" prst="rect">
            <a:avLst/>
          </a:prstGeom>
        </p:spPr>
      </p:pic>
      <p:pic>
        <p:nvPicPr>
          <p:cNvPr id="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e26cb744fd49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08000" y="660400"/>
            <a:ext cx="23380700" cy="12407900"/>
          </a:xfrm>
          <a:prstGeom xmlns:a="http://schemas.openxmlformats.org/drawingml/2006/main" prst="rect">
            <a:avLst/>
          </a:prstGeom>
        </p:spPr>
      </p:pic>
      <p:pic>
        <p:nvPicPr>
          <p:cNvPr id="3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bdcadd7fc43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67100"/>
            <a:ext cx="21259800" cy="1079500"/>
          </a:xfrm>
          <a:prstGeom xmlns:a="http://schemas.openxmlformats.org/drawingml/2006/main" prst="rect">
            <a:avLst/>
          </a:prstGeom>
        </p:spPr>
      </p:pic>
      <p:pic>
        <p:nvPicPr>
          <p:cNvPr id="4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48ff88aa249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1785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4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48ff88aa249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879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4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48ff88aa249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41700"/>
            <a:ext cx="21272500" cy="50800"/>
          </a:xfrm>
          <a:prstGeom xmlns:a="http://schemas.openxmlformats.org/drawingml/2006/main" prst="rect">
            <a:avLst/>
          </a:prstGeom>
        </p:spPr>
      </p:pic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850B6C9-11C5-4AF6-9A66-E5FA5718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12153900"/>
            <a:ext cx="213487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133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· 화면과 코드가 연결되는 구현 근거를 정리했습니다.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8C6B3EE-57CE-43F4-A0A3-A93C767C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117600"/>
            <a:ext cx="2132330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8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PROJECT PORTFOLIO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429EDAE-481B-49A2-BCEE-D454F13B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500" y="2184400"/>
            <a:ext cx="21437600" cy="92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5066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즐겨찾기와 응급 도움 · 반복 행동 단축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C230629-D3D5-4AAC-BE73-6B0488A6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700" y="2171700"/>
            <a:ext cx="55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1999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13</a:t>
            </a:r>
          </a:p>
        </p:txBody>
      </p:sp>
      <p:pic>
        <p:nvPicPr>
          <p:cNvPr id="47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ac8612c514a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4508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ac8612c514a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6159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49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88ce8a14140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15278100" y="5334000"/>
            <a:ext cx="889000" cy="508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88ce8a14140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8216900" y="5334000"/>
            <a:ext cx="889000" cy="508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2065ad3f440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9804400" y="8966200"/>
            <a:ext cx="4775200" cy="50800"/>
          </a:xfrm>
          <a:prstGeom xmlns:a="http://schemas.openxmlformats.org/drawingml/2006/main" prst="rect">
            <a:avLst/>
          </a:prstGeom>
        </p:spPr>
      </p:pic>
      <p:pic>
        <p:nvPicPr>
          <p:cNvPr id="52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578475b3941c8"/>
          <a:stretch xmlns:a="http://schemas.openxmlformats.org/drawingml/2006/main"/>
        </p:blipFill>
        <p:spPr>
          <a:xfrm xmlns:a="http://schemas.openxmlformats.org/drawingml/2006/main" rot="0">
            <a:off x="2871825" y="6604000"/>
            <a:ext cx="2206550" cy="4775200"/>
          </a:xfrm>
          <a:prstGeom xmlns:a="http://schemas.openxmlformats.org/drawingml/2006/main" prst="rect">
            <a:avLst/>
          </a:prstGeom>
        </p:spPr>
      </p:pic>
      <p:pic>
        <p:nvPicPr>
          <p:cNvPr id="53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578475b3941c8"/>
          <a:stretch xmlns:a="http://schemas.openxmlformats.org/drawingml/2006/main"/>
        </p:blipFill>
        <p:spPr>
          <a:xfrm xmlns:a="http://schemas.openxmlformats.org/drawingml/2006/main" rot="0">
            <a:off x="8078825" y="6604000"/>
            <a:ext cx="2206550" cy="47752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6E0483C9-C05A-49AB-B7A8-9C9A3820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9600" y="3695700"/>
            <a:ext cx="206375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FAVORITES / HELP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D5D610B-5B7A-4E36-A803-4FB6C195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5130800"/>
            <a:ext cx="6604000" cy="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2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LOCAL STATE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30C60C1-F109-4577-9F82-64D61F8F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0000" y="5130800"/>
            <a:ext cx="6604000" cy="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2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RECENT 5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A0014779-4D63-4B66-85EA-C132F107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68700" y="5130800"/>
            <a:ext cx="6604000" cy="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2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OFFLINE GUIDE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BACB3CBB-D15A-4DCB-B5D9-8D9A206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1900" y="6692900"/>
            <a:ext cx="10337800" cy="459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반복 탐색 비용을 줄이기 위해 즐겨찾기와 최근 본 병원 5개를 제공했습니다. 응급 도움 화면은 네트워크 상태와 무관하게 확인할 수 있는 기본 안내와 119 연결을 중심으로 구성했습니다.</a:t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 xmlns:a="http://schemas.openxmlformats.org/drawingml/2006/main">
            <a:pPr lvl="0" algn="l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화면 캡처는 웹 대체 UI 기준이며, Android에서는 네이티브 지도·전화·공유 기능으로 확장됩니다.</a:t>
            </a:r>
          </a:p>
        </p:txBody>
      </p:sp>
    </p:spTree>
    <p:extLst>
      <p:ext uri="{BB962C8B-B14F-4D97-AF65-F5344CB8AC3E}">
        <p14:creationId xmlns:p14="http://schemas.microsoft.com/office/powerpoint/2010/main" val="17601005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da523ad1a48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20700" y="673100"/>
            <a:ext cx="23342600" cy="12369800"/>
          </a:xfrm>
          <a:prstGeom xmlns:a="http://schemas.openxmlformats.org/drawingml/2006/main" prst="rect">
            <a:avLst/>
          </a:prstGeom>
        </p:spPr>
      </p:pic>
      <p:pic>
        <p:nvPicPr>
          <p:cNvPr id="4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9ab288ecb41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08000" y="660400"/>
            <a:ext cx="23380700" cy="124079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9be6603b74b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67100"/>
            <a:ext cx="21259800" cy="1079500"/>
          </a:xfrm>
          <a:prstGeom xmlns:a="http://schemas.openxmlformats.org/drawingml/2006/main" prst="rect">
            <a:avLst/>
          </a:prstGeom>
        </p:spPr>
      </p:pic>
      <p:pic>
        <p:nvPicPr>
          <p:cNvPr id="4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d61dd19cc4a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1785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d61dd19cc4a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879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d61dd19cc4a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41700"/>
            <a:ext cx="21272500" cy="50800"/>
          </a:xfrm>
          <a:prstGeom xmlns:a="http://schemas.openxmlformats.org/drawingml/2006/main" prst="rect">
            <a:avLst/>
          </a:prstGeom>
        </p:spPr>
      </p:pic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AC907794-9EB0-41E8-9CE2-27B751CA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12153900"/>
            <a:ext cx="213487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133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· Developer Portfolio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E0EE358-CC9B-4D71-88CF-D9599710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117600"/>
            <a:ext cx="2132330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8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PROJECT PORTFOLIO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72FBC4-96F4-4648-A06A-CD42A01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500" y="2184400"/>
            <a:ext cx="21437600" cy="92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5066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시스템 아키텍처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8EFE197-C48F-4DD1-9B07-17DBDC1A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700" y="2171700"/>
            <a:ext cx="55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1999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14</a:t>
            </a:r>
          </a:p>
        </p:txBody>
      </p:sp>
      <p:pic>
        <p:nvPicPr>
          <p:cNvPr id="5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4c040967ab49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4508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57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550b4c69547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5321300" y="8140700"/>
            <a:ext cx="6451600" cy="50800"/>
          </a:xfrm>
          <a:prstGeom xmlns:a="http://schemas.openxmlformats.org/drawingml/2006/main" prst="rect">
            <a:avLst/>
          </a:prstGeom>
        </p:spPr>
      </p:pic>
      <p:pic>
        <p:nvPicPr>
          <p:cNvPr id="58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550b4c69547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12611100" y="8140700"/>
            <a:ext cx="6451600" cy="50800"/>
          </a:xfrm>
          <a:prstGeom xmlns:a="http://schemas.openxmlformats.org/drawingml/2006/main" prst="rect">
            <a:avLst/>
          </a:prstGeom>
        </p:spPr>
      </p:pic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24A5496-304F-472A-9361-06C0CB4C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9600" y="3695700"/>
            <a:ext cx="206375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모바일–API–DB–공공데이터–운영 인프라를 책임 경계로 분리했습니다.</a:t>
            </a:r>
          </a:p>
        </p:txBody>
      </p:sp>
      <p:pic>
        <p:nvPicPr>
          <p:cNvPr id="60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3011f1d0c4a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8C2CC54-E340-4367-BE59-21D72E8D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CLIENT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508CA56-2C48-4868-86B6-B5CCF7B9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Expo SDK 54, React Native 0.81.5, TypeScript, Expo Router. SecureStore와 AsyncStorage를 데이터 민감도에 따라 분리했습니다.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7C9A28D-2662-47FA-8052-61C4C425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ANDROID · NATIVE MAP</a:t>
            </a:r>
          </a:p>
        </p:txBody>
      </p:sp>
      <p:pic>
        <p:nvPicPr>
          <p:cNvPr id="64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3011f1d0c4a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88519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664FFB1-FD86-47A3-A10F-01BBB278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SERVER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9F0B644-BE4B-4112-9AF8-9445BD1D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Spring Boot 4.0.6 / Java 17 / MyBatis. REST API, 외부 API 병합, 필터·추천, 캐시, 인증, Rate Limit을 담당합니다.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81AF177-CDBE-43F9-B68A-01BDA0B4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24 ENDPOINTS</a:t>
            </a:r>
          </a:p>
        </p:txBody>
      </p:sp>
      <p:pic>
        <p:nvPicPr>
          <p:cNvPr id="68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3011f1d0c4a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6154400" y="10375900"/>
            <a:ext cx="6667500" cy="50800"/>
          </a:xfrm>
          <a:prstGeom xmlns:a="http://schemas.openxmlformats.org/drawingml/2006/main" prst="rect">
            <a:avLst/>
          </a:prstGeom>
        </p:spPr>
      </p:pic>
      <p:pic>
        <p:nvPicPr>
          <p:cNvPr id="69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052ab9b264b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1214100" y="5041900"/>
            <a:ext cx="1943100" cy="1943100"/>
          </a:xfrm>
          <a:prstGeom xmlns:a="http://schemas.openxmlformats.org/drawingml/2006/main" prst="rect">
            <a:avLst/>
          </a:prstGeom>
        </p:spPr>
      </p:pic>
      <p:pic>
        <p:nvPicPr>
          <p:cNvPr id="70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f721eef6c45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3822700" y="4953000"/>
            <a:ext cx="2133600" cy="2133600"/>
          </a:xfrm>
          <a:prstGeom xmlns:a="http://schemas.openxmlformats.org/drawingml/2006/main" prst="rect">
            <a:avLst/>
          </a:prstGeom>
        </p:spPr>
      </p:pic>
      <p:pic>
        <p:nvPicPr>
          <p:cNvPr id="71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26c7d74f54f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8491200" y="5016500"/>
            <a:ext cx="1993900" cy="1993900"/>
          </a:xfrm>
          <a:prstGeom xmlns:a="http://schemas.openxmlformats.org/drawingml/2006/main" prst="rect">
            <a:avLst/>
          </a:prstGeom>
        </p:spPr>
      </p:pic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0E7D429-A81A-4A26-9DE1-5343B661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036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INFRA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672916F9-164E-4559-B19E-3D95D106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MySQL 영속화, AWS EC2, Nginx HTTPS 역방향 프록시, EAS Preview APK, GitHub Release로 배포했습니다.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3D249C6A-108B-4857-8730-D1FD3EC8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API.LASTCALL.KRO.KR</a:t>
            </a:r>
          </a:p>
        </p:txBody>
      </p:sp>
    </p:spTree>
    <p:extLst>
      <p:ext uri="{BB962C8B-B14F-4D97-AF65-F5344CB8AC3E}">
        <p14:creationId xmlns:p14="http://schemas.microsoft.com/office/powerpoint/2010/main" val="10963740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0a38e7d6049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20700" y="673100"/>
            <a:ext cx="23342600" cy="12369800"/>
          </a:xfrm>
          <a:prstGeom xmlns:a="http://schemas.openxmlformats.org/drawingml/2006/main" prst="rect">
            <a:avLst/>
          </a:prstGeom>
        </p:spPr>
      </p:pic>
      <p:pic>
        <p:nvPicPr>
          <p:cNvPr id="4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f3a12ac44449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08000" y="660400"/>
            <a:ext cx="23380700" cy="124079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78cf66bc34e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67100"/>
            <a:ext cx="21259800" cy="1079500"/>
          </a:xfrm>
          <a:prstGeom xmlns:a="http://schemas.openxmlformats.org/drawingml/2006/main" prst="rect">
            <a:avLst/>
          </a:prstGeom>
        </p:spPr>
      </p:pic>
      <p:pic>
        <p:nvPicPr>
          <p:cNvPr id="4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fae3755e744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1785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fae3755e744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879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fae3755e744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41700"/>
            <a:ext cx="21272500" cy="50800"/>
          </a:xfrm>
          <a:prstGeom xmlns:a="http://schemas.openxmlformats.org/drawingml/2006/main" prst="rect">
            <a:avLst/>
          </a:prstGeom>
        </p:spPr>
      </p:pic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AC907794-9EB0-41E8-9CE2-27B751CA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12153900"/>
            <a:ext cx="213487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133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· Developer Portfolio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E0EE358-CC9B-4D71-88CF-D9599710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117600"/>
            <a:ext cx="2132330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8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PROJECT PORTFOLIO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72FBC4-96F4-4648-A06A-CD42A01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500" y="2184400"/>
            <a:ext cx="21437600" cy="92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5066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검색 파이프라인과 캐시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8EFE197-C48F-4DD1-9B07-17DBDC1A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700" y="2171700"/>
            <a:ext cx="55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1999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15</a:t>
            </a:r>
          </a:p>
        </p:txBody>
      </p:sp>
      <p:pic>
        <p:nvPicPr>
          <p:cNvPr id="5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e556640274f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4508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57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8d44c88d448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5321300" y="8140700"/>
            <a:ext cx="6451600" cy="50800"/>
          </a:xfrm>
          <a:prstGeom xmlns:a="http://schemas.openxmlformats.org/drawingml/2006/main" prst="rect">
            <a:avLst/>
          </a:prstGeom>
        </p:spPr>
      </p:pic>
      <p:pic>
        <p:nvPicPr>
          <p:cNvPr id="58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8d44c88d448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12611100" y="8140700"/>
            <a:ext cx="6451600" cy="50800"/>
          </a:xfrm>
          <a:prstGeom xmlns:a="http://schemas.openxmlformats.org/drawingml/2006/main" prst="rect">
            <a:avLst/>
          </a:prstGeom>
        </p:spPr>
      </p:pic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24A5496-304F-472A-9361-06C0CB4C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9600" y="3695700"/>
            <a:ext cx="206375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외부 API 호출을 병렬화하고 HPID 기준으로 병합해 응답성과 데이터 일관성을 확보했습니다.</a:t>
            </a:r>
          </a:p>
        </p:txBody>
      </p:sp>
      <p:pic>
        <p:nvPicPr>
          <p:cNvPr id="60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0b65da0fd49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8C2CC54-E340-4367-BE59-21D72E8D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COLLECT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508CA56-2C48-4868-86B6-B5CCF7B9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실시간 병상, 중증 수용, 병원 기본정보, 진료과 API를 병렬 호출합니다. 전국 키워드 검색은 17개 시·도를 병렬 조회합니다.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7C9A28D-2662-47FA-8052-61C4C425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PARALLEL REQUESTS</a:t>
            </a:r>
          </a:p>
        </p:txBody>
      </p:sp>
      <p:pic>
        <p:nvPicPr>
          <p:cNvPr id="64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0b65da0fd49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88519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664FFB1-FD86-47A3-A10F-01BBB278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MERGE &amp; SCORE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9F0B644-BE4B-4112-9AF8-9445BD1D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병원 고유 ID인 HPID로 병합·중복 제거하고, 사용자 좌표와 병원 좌표로 거리 및 추천 점수를 계산합니다.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81AF177-CDBE-43F9-B68A-01BDA0B4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HPID · DISTANCE</a:t>
            </a:r>
          </a:p>
        </p:txBody>
      </p:sp>
      <p:pic>
        <p:nvPicPr>
          <p:cNvPr id="68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0b65da0fd49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6154400" y="10375900"/>
            <a:ext cx="6667500" cy="50800"/>
          </a:xfrm>
          <a:prstGeom xmlns:a="http://schemas.openxmlformats.org/drawingml/2006/main" prst="rect">
            <a:avLst/>
          </a:prstGeom>
        </p:spPr>
      </p:pic>
      <p:pic>
        <p:nvPicPr>
          <p:cNvPr id="69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cc159f0c74b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1214100" y="5041900"/>
            <a:ext cx="1943100" cy="1943100"/>
          </a:xfrm>
          <a:prstGeom xmlns:a="http://schemas.openxmlformats.org/drawingml/2006/main" prst="rect">
            <a:avLst/>
          </a:prstGeom>
        </p:spPr>
      </p:pic>
      <p:pic>
        <p:nvPicPr>
          <p:cNvPr id="70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d6136210a44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3822700" y="4953000"/>
            <a:ext cx="2133600" cy="2133600"/>
          </a:xfrm>
          <a:prstGeom xmlns:a="http://schemas.openxmlformats.org/drawingml/2006/main" prst="rect">
            <a:avLst/>
          </a:prstGeom>
        </p:spPr>
      </p:pic>
      <p:pic>
        <p:nvPicPr>
          <p:cNvPr id="71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489fbf88b44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8491200" y="5016500"/>
            <a:ext cx="1993900" cy="1993900"/>
          </a:xfrm>
          <a:prstGeom xmlns:a="http://schemas.openxmlformats.org/drawingml/2006/main" prst="rect">
            <a:avLst/>
          </a:prstGeom>
        </p:spPr>
      </p:pic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0E7D429-A81A-4A26-9DE1-5343B661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036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CACHE TTL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672916F9-164E-4559-B19E-3D95D106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실시간 병상 15초 · 중증 60초 · 기본정보 6시간 · 진료과 6시간으로 데이터 성격별 TTL을 적용했습니다.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3D249C6A-108B-4857-8730-D1FD3EC8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15s / 60s / 6h</a:t>
            </a:r>
          </a:p>
        </p:txBody>
      </p:sp>
    </p:spTree>
    <p:extLst>
      <p:ext uri="{BB962C8B-B14F-4D97-AF65-F5344CB8AC3E}">
        <p14:creationId xmlns:p14="http://schemas.microsoft.com/office/powerpoint/2010/main" val="10963740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6738ca9e244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20700" y="673100"/>
            <a:ext cx="23342600" cy="12369800"/>
          </a:xfrm>
          <a:prstGeom xmlns:a="http://schemas.openxmlformats.org/drawingml/2006/main" prst="rect">
            <a:avLst/>
          </a:prstGeom>
        </p:spPr>
      </p:pic>
      <p:pic>
        <p:nvPicPr>
          <p:cNvPr id="4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93502218b4b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08000" y="660400"/>
            <a:ext cx="23380700" cy="124079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56f0a4cf24b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67100"/>
            <a:ext cx="21259800" cy="1079500"/>
          </a:xfrm>
          <a:prstGeom xmlns:a="http://schemas.openxmlformats.org/drawingml/2006/main" prst="rect">
            <a:avLst/>
          </a:prstGeom>
        </p:spPr>
      </p:pic>
      <p:pic>
        <p:nvPicPr>
          <p:cNvPr id="4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7692e2f7b4f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1785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7692e2f7b4f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879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7692e2f7b4f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41700"/>
            <a:ext cx="21272500" cy="50800"/>
          </a:xfrm>
          <a:prstGeom xmlns:a="http://schemas.openxmlformats.org/drawingml/2006/main" prst="rect">
            <a:avLst/>
          </a:prstGeom>
        </p:spPr>
      </p:pic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AC907794-9EB0-41E8-9CE2-27B751CA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12153900"/>
            <a:ext cx="213487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133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· Developer Portfolio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E0EE358-CC9B-4D71-88CF-D9599710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117600"/>
            <a:ext cx="2132330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8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PROJECT PORTFOLIO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72FBC4-96F4-4648-A06A-CD42A01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500" y="2184400"/>
            <a:ext cx="21437600" cy="92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5066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필터와 추천 계약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8EFE197-C48F-4DD1-9B07-17DBDC1A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700" y="2171700"/>
            <a:ext cx="55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1999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16</a:t>
            </a:r>
          </a:p>
        </p:txBody>
      </p:sp>
      <p:pic>
        <p:nvPicPr>
          <p:cNvPr id="5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6f5bffd93042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4508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57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b7d71393a4f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5321300" y="8140700"/>
            <a:ext cx="6451600" cy="50800"/>
          </a:xfrm>
          <a:prstGeom xmlns:a="http://schemas.openxmlformats.org/drawingml/2006/main" prst="rect">
            <a:avLst/>
          </a:prstGeom>
        </p:spPr>
      </p:pic>
      <p:pic>
        <p:nvPicPr>
          <p:cNvPr id="58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b7d71393a4f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12611100" y="8140700"/>
            <a:ext cx="6451600" cy="50800"/>
          </a:xfrm>
          <a:prstGeom xmlns:a="http://schemas.openxmlformats.org/drawingml/2006/main" prst="rect">
            <a:avLst/>
          </a:prstGeom>
        </p:spPr>
      </p:pic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24A5496-304F-472A-9361-06C0CB4C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9600" y="3695700"/>
            <a:ext cx="206375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필터 추가 시 앱 요청, 컨트롤러 입력, 서비스 필터링을 동시에 수정해 계약 불일치를 방지했습니다.</a:t>
            </a:r>
          </a:p>
        </p:txBody>
      </p:sp>
      <p:pic>
        <p:nvPicPr>
          <p:cNvPr id="60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c1abe5fa54d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8C2CC54-E340-4367-BE59-21D72E8D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INPUT CONTRACT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508CA56-2C48-4868-86B6-B5CCF7B9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symptom, department, bedTypes, facilities, severeTypes, sort를 명시적인 요청 파라미터로 전달합니다.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7C9A28D-2662-47FA-8052-61C4C425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APP → CONTROLLER</a:t>
            </a:r>
          </a:p>
        </p:txBody>
      </p:sp>
      <p:pic>
        <p:nvPicPr>
          <p:cNvPr id="64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c1abe5fa54d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88519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664FFB1-FD86-47A3-A10F-01BBB278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FILTER LOGIC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9F0B644-BE4B-4112-9AF8-9445BD1D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복수 선택 조건을 병원 응답 필드와 매칭하고, 실시간 병상·장비·중증 가능 데이터를 한 결과에 결합합니다.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81AF177-CDBE-43F9-B68A-01BDA0B4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SERVICE ALL-MATCH</a:t>
            </a:r>
          </a:p>
        </p:txBody>
      </p:sp>
      <p:pic>
        <p:nvPicPr>
          <p:cNvPr id="68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c1abe5fa54d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6154400" y="10375900"/>
            <a:ext cx="6667500" cy="50800"/>
          </a:xfrm>
          <a:prstGeom xmlns:a="http://schemas.openxmlformats.org/drawingml/2006/main" prst="rect">
            <a:avLst/>
          </a:prstGeom>
        </p:spPr>
      </p:pic>
      <p:pic>
        <p:nvPicPr>
          <p:cNvPr id="69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94f535aca47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1214100" y="5041900"/>
            <a:ext cx="1943100" cy="1943100"/>
          </a:xfrm>
          <a:prstGeom xmlns:a="http://schemas.openxmlformats.org/drawingml/2006/main" prst="rect">
            <a:avLst/>
          </a:prstGeom>
        </p:spPr>
      </p:pic>
      <p:pic>
        <p:nvPicPr>
          <p:cNvPr id="70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22666c49a4d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3822700" y="4953000"/>
            <a:ext cx="2133600" cy="2133600"/>
          </a:xfrm>
          <a:prstGeom xmlns:a="http://schemas.openxmlformats.org/drawingml/2006/main" prst="rect">
            <a:avLst/>
          </a:prstGeom>
        </p:spPr>
      </p:pic>
      <p:pic>
        <p:nvPicPr>
          <p:cNvPr id="71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2e8e3fc9f44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8491200" y="5016500"/>
            <a:ext cx="1993900" cy="1993900"/>
          </a:xfrm>
          <a:prstGeom xmlns:a="http://schemas.openxmlformats.org/drawingml/2006/main" prst="rect">
            <a:avLst/>
          </a:prstGeom>
        </p:spPr>
      </p:pic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0E7D429-A81A-4A26-9DE1-5343B661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036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SORT &amp; EXPLAIN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672916F9-164E-4559-B19E-3D95D106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거리·병상·ICU·수술실·추천 점수 정렬을 제공하고 화면에 근거 데이터와 갱신 시각을 함께 표시합니다.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3D249C6A-108B-4857-8730-D1FD3EC8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TRANSPARENT RESULT</a:t>
            </a:r>
          </a:p>
        </p:txBody>
      </p:sp>
    </p:spTree>
    <p:extLst>
      <p:ext uri="{BB962C8B-B14F-4D97-AF65-F5344CB8AC3E}">
        <p14:creationId xmlns:p14="http://schemas.microsoft.com/office/powerpoint/2010/main" val="10963740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28df5cccd41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20700" y="673100"/>
            <a:ext cx="23342600" cy="12369800"/>
          </a:xfrm>
          <a:prstGeom xmlns:a="http://schemas.openxmlformats.org/drawingml/2006/main" prst="rect">
            <a:avLst/>
          </a:prstGeom>
        </p:spPr>
      </p:pic>
      <p:pic>
        <p:nvPicPr>
          <p:cNvPr id="4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59d5fedab47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08000" y="660400"/>
            <a:ext cx="23380700" cy="124079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9826bf446d46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67100"/>
            <a:ext cx="21259800" cy="1079500"/>
          </a:xfrm>
          <a:prstGeom xmlns:a="http://schemas.openxmlformats.org/drawingml/2006/main" prst="rect">
            <a:avLst/>
          </a:prstGeom>
        </p:spPr>
      </p:pic>
      <p:pic>
        <p:nvPicPr>
          <p:cNvPr id="4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baf86787549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1785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baf86787549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879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baf86787549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41700"/>
            <a:ext cx="21272500" cy="50800"/>
          </a:xfrm>
          <a:prstGeom xmlns:a="http://schemas.openxmlformats.org/drawingml/2006/main" prst="rect">
            <a:avLst/>
          </a:prstGeom>
        </p:spPr>
      </p:pic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AC907794-9EB0-41E8-9CE2-27B751CA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12153900"/>
            <a:ext cx="213487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133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· Developer Portfolio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E0EE358-CC9B-4D71-88CF-D9599710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117600"/>
            <a:ext cx="2132330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8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PROJECT PORTFOLIO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72FBC4-96F4-4648-A06A-CD42A01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500" y="2184400"/>
            <a:ext cx="21437600" cy="92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5066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활용 기술과 개발 도구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8EFE197-C48F-4DD1-9B07-17DBDC1A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700" y="2171700"/>
            <a:ext cx="55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1999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17</a:t>
            </a:r>
          </a:p>
        </p:txBody>
      </p:sp>
      <p:pic>
        <p:nvPicPr>
          <p:cNvPr id="5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e83ab99484d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4508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57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2f6c0557c43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5321300" y="8140700"/>
            <a:ext cx="6451600" cy="50800"/>
          </a:xfrm>
          <a:prstGeom xmlns:a="http://schemas.openxmlformats.org/drawingml/2006/main" prst="rect">
            <a:avLst/>
          </a:prstGeom>
        </p:spPr>
      </p:pic>
      <p:pic>
        <p:nvPicPr>
          <p:cNvPr id="58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2f6c0557c43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12611100" y="8140700"/>
            <a:ext cx="6451600" cy="50800"/>
          </a:xfrm>
          <a:prstGeom xmlns:a="http://schemas.openxmlformats.org/drawingml/2006/main" prst="rect">
            <a:avLst/>
          </a:prstGeom>
        </p:spPr>
      </p:pic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24A5496-304F-472A-9361-06C0CB4C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9600" y="3695700"/>
            <a:ext cx="206375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기술 목록보다 실제 프로젝트에서 맡은 역할과 적용 지점을 기준으로 정리했습니다.</a:t>
            </a:r>
          </a:p>
        </p:txBody>
      </p:sp>
      <p:pic>
        <p:nvPicPr>
          <p:cNvPr id="60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251ea2c1840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8C2CC54-E340-4367-BE59-21D72E8D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MOBILE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508CA56-2C48-4868-86B6-B5CCF7B9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TypeScript · React Native · Expo Router · SecureStore · AsyncStorage · Naver Map native · @expo/vector-icons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7C9A28D-2662-47FA-8052-61C4C425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UI · STATE · NATIVE</a:t>
            </a:r>
          </a:p>
        </p:txBody>
      </p:sp>
      <p:pic>
        <p:nvPicPr>
          <p:cNvPr id="64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251ea2c1840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88519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664FFB1-FD86-47A3-A10F-01BBB278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BACKEND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9F0B644-BE4B-4112-9AF8-9445BD1D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Java 17 · Spring Boot 4 · MyBatis · MySQL · BCrypt · REST · NMC 공공데이터 API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81AF177-CDBE-43F9-B68A-01BDA0B4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API · DATA · SECURITY</a:t>
            </a:r>
          </a:p>
        </p:txBody>
      </p:sp>
      <p:pic>
        <p:nvPicPr>
          <p:cNvPr id="68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251ea2c1840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6154400" y="10375900"/>
            <a:ext cx="6667500" cy="50800"/>
          </a:xfrm>
          <a:prstGeom xmlns:a="http://schemas.openxmlformats.org/drawingml/2006/main" prst="rect">
            <a:avLst/>
          </a:prstGeom>
        </p:spPr>
      </p:pic>
      <p:pic>
        <p:nvPicPr>
          <p:cNvPr id="69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6bccfb5514f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1214100" y="5041900"/>
            <a:ext cx="1943100" cy="1943100"/>
          </a:xfrm>
          <a:prstGeom xmlns:a="http://schemas.openxmlformats.org/drawingml/2006/main" prst="rect">
            <a:avLst/>
          </a:prstGeom>
        </p:spPr>
      </p:pic>
      <p:pic>
        <p:nvPicPr>
          <p:cNvPr id="70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0626ea78c4f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3822700" y="4953000"/>
            <a:ext cx="2133600" cy="2133600"/>
          </a:xfrm>
          <a:prstGeom xmlns:a="http://schemas.openxmlformats.org/drawingml/2006/main" prst="rect">
            <a:avLst/>
          </a:prstGeom>
        </p:spPr>
      </p:pic>
      <p:pic>
        <p:nvPicPr>
          <p:cNvPr id="71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0b295ba924d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8491200" y="5016500"/>
            <a:ext cx="1993900" cy="1993900"/>
          </a:xfrm>
          <a:prstGeom xmlns:a="http://schemas.openxmlformats.org/drawingml/2006/main" prst="rect">
            <a:avLst/>
          </a:prstGeom>
        </p:spPr>
      </p:pic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0E7D429-A81A-4A26-9DE1-5343B661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036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BUILD &amp; OPS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672916F9-164E-4559-B19E-3D95D106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Expo CLI · EAS CLI · Maven Wrapper · Git/GitHub · AWS EC2 · Nginx · HTTPS · Expo Doctor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3D249C6A-108B-4857-8730-D1FD3EC8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TEST · RELEASE · OPS</a:t>
            </a:r>
          </a:p>
        </p:txBody>
      </p:sp>
    </p:spTree>
    <p:extLst>
      <p:ext uri="{BB962C8B-B14F-4D97-AF65-F5344CB8AC3E}">
        <p14:creationId xmlns:p14="http://schemas.microsoft.com/office/powerpoint/2010/main" val="10963740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d00ef715845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20700" y="673100"/>
            <a:ext cx="23342600" cy="12369800"/>
          </a:xfrm>
          <a:prstGeom xmlns:a="http://schemas.openxmlformats.org/drawingml/2006/main" prst="rect">
            <a:avLst/>
          </a:prstGeom>
        </p:spPr>
      </p:pic>
      <p:pic>
        <p:nvPicPr>
          <p:cNvPr id="4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5eceebbff44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08000" y="660400"/>
            <a:ext cx="23380700" cy="124079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46aca38d24e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67100"/>
            <a:ext cx="21259800" cy="1079500"/>
          </a:xfrm>
          <a:prstGeom xmlns:a="http://schemas.openxmlformats.org/drawingml/2006/main" prst="rect">
            <a:avLst/>
          </a:prstGeom>
        </p:spPr>
      </p:pic>
      <p:pic>
        <p:nvPicPr>
          <p:cNvPr id="4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043ea7e2d42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1785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043ea7e2d42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879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043ea7e2d42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41700"/>
            <a:ext cx="21272500" cy="50800"/>
          </a:xfrm>
          <a:prstGeom xmlns:a="http://schemas.openxmlformats.org/drawingml/2006/main" prst="rect">
            <a:avLst/>
          </a:prstGeom>
        </p:spPr>
      </p:pic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AC907794-9EB0-41E8-9CE2-27B751CA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12153900"/>
            <a:ext cx="213487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133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· Developer Portfolio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E0EE358-CC9B-4D71-88CF-D9599710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117600"/>
            <a:ext cx="2132330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8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PROJECT PORTFOLIO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72FBC4-96F4-4648-A06A-CD42A01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500" y="2184400"/>
            <a:ext cx="21437600" cy="92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5066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보안과 개인정보 보호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8EFE197-C48F-4DD1-9B07-17DBDC1A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700" y="2171700"/>
            <a:ext cx="55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1999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18</a:t>
            </a:r>
          </a:p>
        </p:txBody>
      </p:sp>
      <p:pic>
        <p:nvPicPr>
          <p:cNvPr id="5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aa88b12a040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4508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57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54d95234242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5321300" y="8140700"/>
            <a:ext cx="6451600" cy="50800"/>
          </a:xfrm>
          <a:prstGeom xmlns:a="http://schemas.openxmlformats.org/drawingml/2006/main" prst="rect">
            <a:avLst/>
          </a:prstGeom>
        </p:spPr>
      </p:pic>
      <p:pic>
        <p:nvPicPr>
          <p:cNvPr id="58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54d95234242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12611100" y="8140700"/>
            <a:ext cx="6451600" cy="50800"/>
          </a:xfrm>
          <a:prstGeom xmlns:a="http://schemas.openxmlformats.org/drawingml/2006/main" prst="rect">
            <a:avLst/>
          </a:prstGeom>
        </p:spPr>
      </p:pic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24A5496-304F-472A-9361-06C0CB4C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9600" y="3695700"/>
            <a:ext cx="206375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작성 데이터, 관리자 권한, 위치 정보, 과도한 요청을 각각 다른 계층에서 방어했습니다.</a:t>
            </a:r>
          </a:p>
        </p:txBody>
      </p:sp>
      <p:pic>
        <p:nvPicPr>
          <p:cNvPr id="60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8e348075143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8C2CC54-E340-4367-BE59-21D72E8D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AUTH &amp; PASSWORD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508CA56-2C48-4868-86B6-B5CCF7B9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게시글/댓글 BCrypt 해시. 관리자 BCrypt cost ≥12, 64자 이상 랜덤 토큰, 1시간 세션, 로그인 시도 제한.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7C9A28D-2662-47FA-8052-61C4C425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HASH · SESSION</a:t>
            </a:r>
          </a:p>
        </p:txBody>
      </p:sp>
      <p:pic>
        <p:nvPicPr>
          <p:cNvPr id="64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8e348075143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88519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664FFB1-FD86-47A3-A10F-01BBB278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RATE LIMIT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9F0B644-BE4B-4112-9AF8-9445BD1D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응급실 조회 120/분, warmup 20/분, 커뮤니티 쓰기 30/분으로 API 성격별 제한을 적용했습니다.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81AF177-CDBE-43F9-B68A-01BDA0B4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ABUSE CONTROL</a:t>
            </a:r>
          </a:p>
        </p:txBody>
      </p:sp>
      <p:pic>
        <p:nvPicPr>
          <p:cNvPr id="68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8e348075143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6154400" y="10375900"/>
            <a:ext cx="6667500" cy="50800"/>
          </a:xfrm>
          <a:prstGeom xmlns:a="http://schemas.openxmlformats.org/drawingml/2006/main" prst="rect">
            <a:avLst/>
          </a:prstGeom>
        </p:spPr>
      </p:pic>
      <p:pic>
        <p:nvPicPr>
          <p:cNvPr id="69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2f27870bd46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1214100" y="5041900"/>
            <a:ext cx="1943100" cy="1943100"/>
          </a:xfrm>
          <a:prstGeom xmlns:a="http://schemas.openxmlformats.org/drawingml/2006/main" prst="rect">
            <a:avLst/>
          </a:prstGeom>
        </p:spPr>
      </p:pic>
      <p:pic>
        <p:nvPicPr>
          <p:cNvPr id="70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65bfb7d904f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3822700" y="4953000"/>
            <a:ext cx="2133600" cy="2133600"/>
          </a:xfrm>
          <a:prstGeom xmlns:a="http://schemas.openxmlformats.org/drawingml/2006/main" prst="rect">
            <a:avLst/>
          </a:prstGeom>
        </p:spPr>
      </p:pic>
      <p:pic>
        <p:nvPicPr>
          <p:cNvPr id="71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3e758e85842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8491200" y="5016500"/>
            <a:ext cx="1993900" cy="1993900"/>
          </a:xfrm>
          <a:prstGeom xmlns:a="http://schemas.openxmlformats.org/drawingml/2006/main" prst="rect">
            <a:avLst/>
          </a:prstGeom>
        </p:spPr>
      </p:pic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0E7D429-A81A-4A26-9DE1-5343B661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036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PRIVACY &amp; HTTPS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672916F9-164E-4559-B19E-3D95D106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위치 query는 Nginx noargs 로그 형식으로 제외하고 HTTPS, nosniff, frame deny, referrer 제한 헤더를 적용했습니다.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3D249C6A-108B-4857-8730-D1FD3EC8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NO LOCATION LOG</a:t>
            </a:r>
          </a:p>
        </p:txBody>
      </p:sp>
    </p:spTree>
    <p:extLst>
      <p:ext uri="{BB962C8B-B14F-4D97-AF65-F5344CB8AC3E}">
        <p14:creationId xmlns:p14="http://schemas.microsoft.com/office/powerpoint/2010/main" val="10963740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8f7b6c7aff4a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20700" y="673100"/>
            <a:ext cx="23342600" cy="12369800"/>
          </a:xfrm>
          <a:prstGeom xmlns:a="http://schemas.openxmlformats.org/drawingml/2006/main" prst="rect">
            <a:avLst/>
          </a:prstGeom>
        </p:spPr>
      </p:pic>
      <p:pic>
        <p:nvPicPr>
          <p:cNvPr id="4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2913955ac4a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08000" y="660400"/>
            <a:ext cx="23380700" cy="124079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0d08e31aa48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67100"/>
            <a:ext cx="21259800" cy="1079500"/>
          </a:xfrm>
          <a:prstGeom xmlns:a="http://schemas.openxmlformats.org/drawingml/2006/main" prst="rect">
            <a:avLst/>
          </a:prstGeom>
        </p:spPr>
      </p:pic>
      <p:pic>
        <p:nvPicPr>
          <p:cNvPr id="4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59c5daeea4b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1785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59c5daeea4b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879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59c5daeea4b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41700"/>
            <a:ext cx="21272500" cy="50800"/>
          </a:xfrm>
          <a:prstGeom xmlns:a="http://schemas.openxmlformats.org/drawingml/2006/main" prst="rect">
            <a:avLst/>
          </a:prstGeom>
        </p:spPr>
      </p:pic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AC907794-9EB0-41E8-9CE2-27B751CA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12153900"/>
            <a:ext cx="213487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133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· Developer Portfolio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E0EE358-CC9B-4D71-88CF-D9599710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117600"/>
            <a:ext cx="2132330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8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PROJECT PORTFOLIO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72FBC4-96F4-4648-A06A-CD42A01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500" y="2184400"/>
            <a:ext cx="21437600" cy="92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5066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배포와 운영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8EFE197-C48F-4DD1-9B07-17DBDC1A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700" y="2171700"/>
            <a:ext cx="55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1999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19</a:t>
            </a:r>
          </a:p>
        </p:txBody>
      </p:sp>
      <p:pic>
        <p:nvPicPr>
          <p:cNvPr id="5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90aa90dfd4e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4508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57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d412855cd41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5321300" y="8140700"/>
            <a:ext cx="6451600" cy="50800"/>
          </a:xfrm>
          <a:prstGeom xmlns:a="http://schemas.openxmlformats.org/drawingml/2006/main" prst="rect">
            <a:avLst/>
          </a:prstGeom>
        </p:spPr>
      </p:pic>
      <p:pic>
        <p:nvPicPr>
          <p:cNvPr id="58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d412855cd41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12611100" y="8140700"/>
            <a:ext cx="6451600" cy="50800"/>
          </a:xfrm>
          <a:prstGeom xmlns:a="http://schemas.openxmlformats.org/drawingml/2006/main" prst="rect">
            <a:avLst/>
          </a:prstGeom>
        </p:spPr>
      </p:pic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24A5496-304F-472A-9361-06C0CB4C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9600" y="3695700"/>
            <a:ext cx="206375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로컬 개발을 넘어 Android 설치 파일과 HTTPS 운영 API가 연결되는 경로를 완성했습니다.</a:t>
            </a:r>
          </a:p>
        </p:txBody>
      </p:sp>
      <p:pic>
        <p:nvPicPr>
          <p:cNvPr id="60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40d05e9b149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8C2CC54-E340-4367-BE59-21D72E8D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BUILD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508CA56-2C48-4868-86B6-B5CCF7B9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EAS Preview 프로필로 Android APK를 빌드하고 versionCode 4, v1.0.0-rc4 릴리스 자산을 관리했습니다.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7C9A28D-2662-47FA-8052-61C4C425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EAS · APK</a:t>
            </a:r>
          </a:p>
        </p:txBody>
      </p:sp>
      <p:pic>
        <p:nvPicPr>
          <p:cNvPr id="64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40d05e9b149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88519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664FFB1-FD86-47A3-A10F-01BBB278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SERVER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9F0B644-BE4B-4112-9AF8-9445BD1D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AWS EC2에서 Spring Boot 서비스를 8080으로 운영하고 Nginx가 api.lastcall.kro.kr HTTPS 요청을 프록시합니다.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81AF177-CDBE-43F9-B68A-01BDA0B4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EC2 · NGINX</a:t>
            </a:r>
          </a:p>
        </p:txBody>
      </p:sp>
      <p:pic>
        <p:nvPicPr>
          <p:cNvPr id="68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40d05e9b149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6154400" y="10375900"/>
            <a:ext cx="6667500" cy="50800"/>
          </a:xfrm>
          <a:prstGeom xmlns:a="http://schemas.openxmlformats.org/drawingml/2006/main" prst="rect">
            <a:avLst/>
          </a:prstGeom>
        </p:spPr>
      </p:pic>
      <p:pic>
        <p:nvPicPr>
          <p:cNvPr id="69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bb160df9848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1214100" y="5041900"/>
            <a:ext cx="1943100" cy="1943100"/>
          </a:xfrm>
          <a:prstGeom xmlns:a="http://schemas.openxmlformats.org/drawingml/2006/main" prst="rect">
            <a:avLst/>
          </a:prstGeom>
        </p:spPr>
      </p:pic>
      <p:pic>
        <p:nvPicPr>
          <p:cNvPr id="70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7aa03c8514a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3822700" y="4953000"/>
            <a:ext cx="2133600" cy="2133600"/>
          </a:xfrm>
          <a:prstGeom xmlns:a="http://schemas.openxmlformats.org/drawingml/2006/main" prst="rect">
            <a:avLst/>
          </a:prstGeom>
        </p:spPr>
      </p:pic>
      <p:pic>
        <p:nvPicPr>
          <p:cNvPr id="71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c41d8771546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8491200" y="5016500"/>
            <a:ext cx="1993900" cy="1993900"/>
          </a:xfrm>
          <a:prstGeom xmlns:a="http://schemas.openxmlformats.org/drawingml/2006/main" prst="rect">
            <a:avLst/>
          </a:prstGeom>
        </p:spPr>
      </p:pic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0E7D429-A81A-4A26-9DE1-5343B661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036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OPERATE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672916F9-164E-4559-B19E-3D95D106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환경변수로 DB/API 키를 주입하고 /community/posts, /emergency/nearby 운영 호출의 HTTP 200을 확인했습니다.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3D249C6A-108B-4857-8730-D1FD3EC8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SECRETS · HEALTH</a:t>
            </a:r>
          </a:p>
        </p:txBody>
      </p:sp>
    </p:spTree>
    <p:extLst>
      <p:ext uri="{BB962C8B-B14F-4D97-AF65-F5344CB8AC3E}">
        <p14:creationId xmlns:p14="http://schemas.microsoft.com/office/powerpoint/2010/main" val="10963740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de41a91484e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20700" y="673100"/>
            <a:ext cx="23342600" cy="12369800"/>
          </a:xfrm>
          <a:prstGeom xmlns:a="http://schemas.openxmlformats.org/drawingml/2006/main" prst="rect">
            <a:avLst/>
          </a:prstGeom>
        </p:spPr>
      </p:pic>
      <p:pic>
        <p:nvPicPr>
          <p:cNvPr id="4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65b2849d243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08000" y="660400"/>
            <a:ext cx="23380700" cy="124079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72931407744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67100"/>
            <a:ext cx="21259800" cy="1079500"/>
          </a:xfrm>
          <a:prstGeom xmlns:a="http://schemas.openxmlformats.org/drawingml/2006/main" prst="rect">
            <a:avLst/>
          </a:prstGeom>
        </p:spPr>
      </p:pic>
      <p:pic>
        <p:nvPicPr>
          <p:cNvPr id="4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c79f801004d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1785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c79f801004d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879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c79f801004d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41700"/>
            <a:ext cx="21272500" cy="50800"/>
          </a:xfrm>
          <a:prstGeom xmlns:a="http://schemas.openxmlformats.org/drawingml/2006/main" prst="rect">
            <a:avLst/>
          </a:prstGeom>
        </p:spPr>
      </p:pic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AC907794-9EB0-41E8-9CE2-27B751CA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12153900"/>
            <a:ext cx="213487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133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· Developer Portfolio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E0EE358-CC9B-4D71-88CF-D9599710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117600"/>
            <a:ext cx="2132330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8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PROJECT PORTFOLIO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72FBC4-96F4-4648-A06A-CD42A01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500" y="2184400"/>
            <a:ext cx="21437600" cy="92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5066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트러블슈팅 01 · 지도 크래시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8EFE197-C48F-4DD1-9B07-17DBDC1A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700" y="2171700"/>
            <a:ext cx="55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1999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20</a:t>
            </a:r>
          </a:p>
        </p:txBody>
      </p:sp>
      <p:pic>
        <p:nvPicPr>
          <p:cNvPr id="5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5c31ea49c47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4508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57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1bd33efe24c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5321300" y="8140700"/>
            <a:ext cx="6451600" cy="50800"/>
          </a:xfrm>
          <a:prstGeom xmlns:a="http://schemas.openxmlformats.org/drawingml/2006/main" prst="rect">
            <a:avLst/>
          </a:prstGeom>
        </p:spPr>
      </p:pic>
      <p:pic>
        <p:nvPicPr>
          <p:cNvPr id="58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1bd33efe24c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12611100" y="8140700"/>
            <a:ext cx="6451600" cy="50800"/>
          </a:xfrm>
          <a:prstGeom xmlns:a="http://schemas.openxmlformats.org/drawingml/2006/main" prst="rect">
            <a:avLst/>
          </a:prstGeom>
        </p:spPr>
      </p:pic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24A5496-304F-472A-9361-06C0CB4C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9600" y="3695700"/>
            <a:ext cx="206375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증상–원인–해결–검증의 순서로 네이티브 지도 진입 문제를 해결했습니다.</a:t>
            </a:r>
          </a:p>
        </p:txBody>
      </p:sp>
      <p:pic>
        <p:nvPicPr>
          <p:cNvPr id="60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a08acc948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8C2CC54-E340-4367-BE59-21D72E8D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SYMPTOM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508CA56-2C48-4868-86B6-B5CCF7B9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일부 Android 빌드에서 지도 탭 진입 즉시 앱이 종료되었습니다. 재현 환경은 Google Maps 네이티브 설정이 없는 빌드였습니다.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7C9A28D-2662-47FA-8052-61C4C425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APP CRASH</a:t>
            </a:r>
          </a:p>
        </p:txBody>
      </p:sp>
      <p:pic>
        <p:nvPicPr>
          <p:cNvPr id="64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a08acc948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88519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664FFB1-FD86-47A3-A10F-01BBB278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ROOT CAUSE &amp; ACTION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9F0B644-BE4B-4112-9AF8-9445BD1D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네이티브 지도 모듈을 무조건 로드하는 경로가 원인이었습니다. 안전 목록을 먼저 제공하고 Naver Map 모듈과 웹 대체 UI를 분기했습니다.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81AF177-CDBE-43F9-B68A-01BDA0B4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SAFE FALLBACK</a:t>
            </a:r>
          </a:p>
        </p:txBody>
      </p:sp>
      <p:pic>
        <p:nvPicPr>
          <p:cNvPr id="68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a08acc948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6154400" y="10375900"/>
            <a:ext cx="6667500" cy="50800"/>
          </a:xfrm>
          <a:prstGeom xmlns:a="http://schemas.openxmlformats.org/drawingml/2006/main" prst="rect">
            <a:avLst/>
          </a:prstGeom>
        </p:spPr>
      </p:pic>
      <p:pic>
        <p:nvPicPr>
          <p:cNvPr id="69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2811f5e1745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1214100" y="5041900"/>
            <a:ext cx="1943100" cy="1943100"/>
          </a:xfrm>
          <a:prstGeom xmlns:a="http://schemas.openxmlformats.org/drawingml/2006/main" prst="rect">
            <a:avLst/>
          </a:prstGeom>
        </p:spPr>
      </p:pic>
      <p:pic>
        <p:nvPicPr>
          <p:cNvPr id="70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9d2c5bdf446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3822700" y="4953000"/>
            <a:ext cx="2133600" cy="2133600"/>
          </a:xfrm>
          <a:prstGeom xmlns:a="http://schemas.openxmlformats.org/drawingml/2006/main" prst="rect">
            <a:avLst/>
          </a:prstGeom>
        </p:spPr>
      </p:pic>
      <p:pic>
        <p:nvPicPr>
          <p:cNvPr id="71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ce20e95c148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8491200" y="5016500"/>
            <a:ext cx="1993900" cy="1993900"/>
          </a:xfrm>
          <a:prstGeom xmlns:a="http://schemas.openxmlformats.org/drawingml/2006/main" prst="rect">
            <a:avLst/>
          </a:prstGeom>
        </p:spPr>
      </p:pic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0E7D429-A81A-4A26-9DE1-5343B661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036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VERIFICATION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672916F9-164E-4559-B19E-3D95D106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모듈 미설치 환경에서는 안내/목록이 표시되고, 설정된 Android 빌드에서는 현재 위치와 병원 마커가 정상 렌더링됩니다.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3D249C6A-108B-4857-8730-D1FD3EC8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NO CRASH · MAP OK</a:t>
            </a:r>
          </a:p>
        </p:txBody>
      </p:sp>
    </p:spTree>
    <p:extLst>
      <p:ext uri="{BB962C8B-B14F-4D97-AF65-F5344CB8AC3E}">
        <p14:creationId xmlns:p14="http://schemas.microsoft.com/office/powerpoint/2010/main" val="109637402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69426409044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20700" y="673100"/>
            <a:ext cx="23342600" cy="12369800"/>
          </a:xfrm>
          <a:prstGeom xmlns:a="http://schemas.openxmlformats.org/drawingml/2006/main" prst="rect">
            <a:avLst/>
          </a:prstGeom>
        </p:spPr>
      </p:pic>
      <p:pic>
        <p:nvPicPr>
          <p:cNvPr id="4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13a87914c4c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08000" y="660400"/>
            <a:ext cx="23380700" cy="124079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23d22c0324a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67100"/>
            <a:ext cx="21259800" cy="1079500"/>
          </a:xfrm>
          <a:prstGeom xmlns:a="http://schemas.openxmlformats.org/drawingml/2006/main" prst="rect">
            <a:avLst/>
          </a:prstGeom>
        </p:spPr>
      </p:pic>
      <p:pic>
        <p:nvPicPr>
          <p:cNvPr id="4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47f5494944e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1785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47f5494944e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879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47f5494944e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41700"/>
            <a:ext cx="21272500" cy="50800"/>
          </a:xfrm>
          <a:prstGeom xmlns:a="http://schemas.openxmlformats.org/drawingml/2006/main" prst="rect">
            <a:avLst/>
          </a:prstGeom>
        </p:spPr>
      </p:pic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AC907794-9EB0-41E8-9CE2-27B751CA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12153900"/>
            <a:ext cx="213487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133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· Developer Portfolio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E0EE358-CC9B-4D71-88CF-D9599710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117600"/>
            <a:ext cx="2132330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8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PROJECT PORTFOLIO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72FBC4-96F4-4648-A06A-CD42A01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500" y="2184400"/>
            <a:ext cx="21437600" cy="92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5066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트러블슈팅 02 · Android API 요청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8EFE197-C48F-4DD1-9B07-17DBDC1A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700" y="2171700"/>
            <a:ext cx="55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1999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21</a:t>
            </a:r>
          </a:p>
        </p:txBody>
      </p:sp>
      <p:pic>
        <p:nvPicPr>
          <p:cNvPr id="5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63d05214a4a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4508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57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525fd065040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5321300" y="8140700"/>
            <a:ext cx="6451600" cy="50800"/>
          </a:xfrm>
          <a:prstGeom xmlns:a="http://schemas.openxmlformats.org/drawingml/2006/main" prst="rect">
            <a:avLst/>
          </a:prstGeom>
        </p:spPr>
      </p:pic>
      <p:pic>
        <p:nvPicPr>
          <p:cNvPr id="58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525fd065040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12611100" y="8140700"/>
            <a:ext cx="6451600" cy="50800"/>
          </a:xfrm>
          <a:prstGeom xmlns:a="http://schemas.openxmlformats.org/drawingml/2006/main" prst="rect">
            <a:avLst/>
          </a:prstGeom>
        </p:spPr>
      </p:pic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24A5496-304F-472A-9361-06C0CB4C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9600" y="3695700"/>
            <a:ext cx="206375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커뮤니티 GET 요청이 서버에 도달하지 않는 문제를 요청 직전 코드까지 좁혀 해결했습니다.</a:t>
            </a:r>
          </a:p>
        </p:txBody>
      </p:sp>
      <p:pic>
        <p:nvPicPr>
          <p:cNvPr id="60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a7d2647cc4b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8C2CC54-E340-4367-BE59-21D72E8D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SYMPTOM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508CA56-2C48-4868-86B6-B5CCF7B9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웹에서는 정상인데 Android 배포 환경에서 커뮤니티 목록 요청만 서버 액세스 로그에 나타나지 않았습니다.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7C9A28D-2662-47FA-8052-61C4C425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NO SERVER TRACE</a:t>
            </a:r>
          </a:p>
        </p:txBody>
      </p:sp>
      <p:pic>
        <p:nvPicPr>
          <p:cNvPr id="64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a7d2647cc4b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88519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664FFB1-FD86-47A3-A10F-01BBB278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ROOT CAUSE &amp; ACTION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9F0B644-BE4B-4112-9AF8-9445BD1D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요청 직전 console.time 계측 경로의 예외 가능성을 확인했습니다. 계측을 제거하고 fetch 경로를 단순화해 요청 실행을 보장했습니다.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81AF177-CDBE-43F9-B68A-01BDA0B4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SIMPLIFY REQUEST</a:t>
            </a:r>
          </a:p>
        </p:txBody>
      </p:sp>
      <p:pic>
        <p:nvPicPr>
          <p:cNvPr id="68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a7d2647cc4b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6154400" y="10375900"/>
            <a:ext cx="6667500" cy="50800"/>
          </a:xfrm>
          <a:prstGeom xmlns:a="http://schemas.openxmlformats.org/drawingml/2006/main" prst="rect">
            <a:avLst/>
          </a:prstGeom>
        </p:spPr>
      </p:pic>
      <p:pic>
        <p:nvPicPr>
          <p:cNvPr id="69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642c0217347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1214100" y="5041900"/>
            <a:ext cx="1943100" cy="1943100"/>
          </a:xfrm>
          <a:prstGeom xmlns:a="http://schemas.openxmlformats.org/drawingml/2006/main" prst="rect">
            <a:avLst/>
          </a:prstGeom>
        </p:spPr>
      </p:pic>
      <p:pic>
        <p:nvPicPr>
          <p:cNvPr id="70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b4bfce9cf43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3822700" y="4953000"/>
            <a:ext cx="2133600" cy="2133600"/>
          </a:xfrm>
          <a:prstGeom xmlns:a="http://schemas.openxmlformats.org/drawingml/2006/main" prst="rect">
            <a:avLst/>
          </a:prstGeom>
        </p:spPr>
      </p:pic>
      <p:pic>
        <p:nvPicPr>
          <p:cNvPr id="71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9de75af9842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8491200" y="5016500"/>
            <a:ext cx="1993900" cy="1993900"/>
          </a:xfrm>
          <a:prstGeom xmlns:a="http://schemas.openxmlformats.org/drawingml/2006/main" prst="rect">
            <a:avLst/>
          </a:prstGeom>
        </p:spPr>
      </p:pic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0E7D429-A81A-4A26-9DE1-5343B661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036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VERIFICATION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672916F9-164E-4559-B19E-3D95D106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운영 /community/posts 호출이 HTTP 200으로 응답하고 Android 화면에서 게시글 목록을 수신하는 것을 확인했습니다.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3D249C6A-108B-4857-8730-D1FD3EC8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HTTP 200</a:t>
            </a:r>
          </a:p>
        </p:txBody>
      </p:sp>
    </p:spTree>
    <p:extLst>
      <p:ext uri="{BB962C8B-B14F-4D97-AF65-F5344CB8AC3E}">
        <p14:creationId xmlns:p14="http://schemas.microsoft.com/office/powerpoint/2010/main" val="109637402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526a1b47154e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20700" y="673100"/>
            <a:ext cx="23342600" cy="12369800"/>
          </a:xfrm>
          <a:prstGeom xmlns:a="http://schemas.openxmlformats.org/drawingml/2006/main" prst="rect">
            <a:avLst/>
          </a:prstGeom>
        </p:spPr>
      </p:pic>
      <p:pic>
        <p:nvPicPr>
          <p:cNvPr id="4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b84f72b6448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08000" y="660400"/>
            <a:ext cx="23380700" cy="124079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215e55f224b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67100"/>
            <a:ext cx="21259800" cy="1079500"/>
          </a:xfrm>
          <a:prstGeom xmlns:a="http://schemas.openxmlformats.org/drawingml/2006/main" prst="rect">
            <a:avLst/>
          </a:prstGeom>
        </p:spPr>
      </p:pic>
      <p:pic>
        <p:nvPicPr>
          <p:cNvPr id="4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8799cb8574d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1785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8799cb8574d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879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8799cb8574d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41700"/>
            <a:ext cx="21272500" cy="50800"/>
          </a:xfrm>
          <a:prstGeom xmlns:a="http://schemas.openxmlformats.org/drawingml/2006/main" prst="rect">
            <a:avLst/>
          </a:prstGeom>
        </p:spPr>
      </p:pic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AC907794-9EB0-41E8-9CE2-27B751CA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12153900"/>
            <a:ext cx="213487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133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· Developer Portfolio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E0EE358-CC9B-4D71-88CF-D9599710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117600"/>
            <a:ext cx="2132330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8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PROJECT PORTFOLIO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72FBC4-96F4-4648-A06A-CD42A01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500" y="2184400"/>
            <a:ext cx="21437600" cy="92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5066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트러블슈팅 03 · 상태 코드와 화면 안전영역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8EFE197-C48F-4DD1-9B07-17DBDC1A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700" y="2171700"/>
            <a:ext cx="55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1999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22</a:t>
            </a:r>
          </a:p>
        </p:txBody>
      </p:sp>
      <p:pic>
        <p:nvPicPr>
          <p:cNvPr id="5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550ce90b44b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4508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57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0db6458e24b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5321300" y="8140700"/>
            <a:ext cx="6451600" cy="50800"/>
          </a:xfrm>
          <a:prstGeom xmlns:a="http://schemas.openxmlformats.org/drawingml/2006/main" prst="rect">
            <a:avLst/>
          </a:prstGeom>
        </p:spPr>
      </p:pic>
      <p:pic>
        <p:nvPicPr>
          <p:cNvPr id="58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0db6458e24b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12611100" y="8140700"/>
            <a:ext cx="6451600" cy="50800"/>
          </a:xfrm>
          <a:prstGeom xmlns:a="http://schemas.openxmlformats.org/drawingml/2006/main" prst="rect">
            <a:avLst/>
          </a:prstGeom>
        </p:spPr>
      </p:pic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24A5496-304F-472A-9361-06C0CB4C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9600" y="3695700"/>
            <a:ext cx="206375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백엔드 예외 계약과 Android 시스템 UI 충돌을 각각 회귀 테스트와 SafeArea로 고쳤습니다.</a:t>
            </a:r>
          </a:p>
        </p:txBody>
      </p:sp>
      <p:pic>
        <p:nvPicPr>
          <p:cNvPr id="60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2ec87a8fd4c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8C2CC54-E340-4367-BE59-21D72E8D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401 → 500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508CA56-2C48-4868-86B6-B5CCF7B9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전역 예외 처리기가 관리자 인증 실패의 ResponseStatusException을 500으로 변환했습니다. 원래 상태를 보존하도록 핸들러를 수정했습니다.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7C9A28D-2662-47FA-8052-61C4C425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API CONTRACT</a:t>
            </a:r>
          </a:p>
        </p:txBody>
      </p:sp>
      <p:pic>
        <p:nvPicPr>
          <p:cNvPr id="64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2ec87a8fd4c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88519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664FFB1-FD86-47A3-A10F-01BBB278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NAV OVERLAP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9F0B644-BE4B-4112-9AF8-9445BD1D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하단 탭이 Android 내비게이션 바와 겹쳤습니다. SafeAreaInsets를 반영해 기기별 하단 여백을 동적으로 계산했습니다.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81AF177-CDBE-43F9-B68A-01BDA0B4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SAFE AREA</a:t>
            </a:r>
          </a:p>
        </p:txBody>
      </p:sp>
      <p:pic>
        <p:nvPicPr>
          <p:cNvPr id="68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2ec87a8fd4c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6154400" y="10375900"/>
            <a:ext cx="6667500" cy="50800"/>
          </a:xfrm>
          <a:prstGeom xmlns:a="http://schemas.openxmlformats.org/drawingml/2006/main" prst="rect">
            <a:avLst/>
          </a:prstGeom>
        </p:spPr>
      </p:pic>
      <p:pic>
        <p:nvPicPr>
          <p:cNvPr id="69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79424f01644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1214100" y="5041900"/>
            <a:ext cx="1943100" cy="1943100"/>
          </a:xfrm>
          <a:prstGeom xmlns:a="http://schemas.openxmlformats.org/drawingml/2006/main" prst="rect">
            <a:avLst/>
          </a:prstGeom>
        </p:spPr>
      </p:pic>
      <p:pic>
        <p:nvPicPr>
          <p:cNvPr id="70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42ad37b354b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3822700" y="4953000"/>
            <a:ext cx="2133600" cy="2133600"/>
          </a:xfrm>
          <a:prstGeom xmlns:a="http://schemas.openxmlformats.org/drawingml/2006/main" prst="rect">
            <a:avLst/>
          </a:prstGeom>
        </p:spPr>
      </p:pic>
      <p:pic>
        <p:nvPicPr>
          <p:cNvPr id="71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f2bc941c54a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8491200" y="5016500"/>
            <a:ext cx="1993900" cy="1993900"/>
          </a:xfrm>
          <a:prstGeom xmlns:a="http://schemas.openxmlformats.org/drawingml/2006/main" prst="rect">
            <a:avLst/>
          </a:prstGeom>
        </p:spPr>
      </p:pic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0E7D429-A81A-4A26-9DE1-5343B661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036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PRIVACY LOG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672916F9-164E-4559-B19E-3D95D106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Nginx 기본 access log에 lat/lon query가 남았습니다. request_uri 대신 uri를 쓰는 noargs 로그 포맷으로 위치 좌표 기록을 제거했습니다.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3D249C6A-108B-4857-8730-D1FD3EC8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NOARGS LOG</a:t>
            </a:r>
          </a:p>
        </p:txBody>
      </p:sp>
    </p:spTree>
    <p:extLst>
      <p:ext uri="{BB962C8B-B14F-4D97-AF65-F5344CB8AC3E}">
        <p14:creationId xmlns:p14="http://schemas.microsoft.com/office/powerpoint/2010/main" val="10963740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9c7a6838d47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20700" y="673100"/>
            <a:ext cx="23342600" cy="12369800"/>
          </a:xfrm>
          <a:prstGeom xmlns:a="http://schemas.openxmlformats.org/drawingml/2006/main" prst="rect">
            <a:avLst/>
          </a:prstGeom>
        </p:spPr>
      </p:pic>
      <p:pic>
        <p:nvPicPr>
          <p:cNvPr id="4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e5f0672b94a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08000" y="660400"/>
            <a:ext cx="23380700" cy="124079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366fff44041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67100"/>
            <a:ext cx="21259800" cy="1079500"/>
          </a:xfrm>
          <a:prstGeom xmlns:a="http://schemas.openxmlformats.org/drawingml/2006/main" prst="rect">
            <a:avLst/>
          </a:prstGeom>
        </p:spPr>
      </p:pic>
      <p:pic>
        <p:nvPicPr>
          <p:cNvPr id="4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9131b098a4d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1785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9131b098a4d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879600"/>
            <a:ext cx="21272500" cy="508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9131b098a4d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3441700"/>
            <a:ext cx="21272500" cy="50800"/>
          </a:xfrm>
          <a:prstGeom xmlns:a="http://schemas.openxmlformats.org/drawingml/2006/main" prst="rect">
            <a:avLst/>
          </a:prstGeom>
        </p:spPr>
      </p:pic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AC907794-9EB0-41E8-9CE2-27B751CA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12153900"/>
            <a:ext cx="213487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133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· Developer Portfolio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E0EE358-CC9B-4D71-88CF-D9599710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117600"/>
            <a:ext cx="2132330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8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PROJECT PORTFOLIO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72FBC4-96F4-4648-A06A-CD42A01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500" y="2184400"/>
            <a:ext cx="21437600" cy="92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5066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검증 결과와 다음 단계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8EFE197-C48F-4DD1-9B07-17DBDC1A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700" y="2171700"/>
            <a:ext cx="55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1999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23</a:t>
            </a:r>
          </a:p>
        </p:txBody>
      </p:sp>
      <p:pic>
        <p:nvPicPr>
          <p:cNvPr id="5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968ce3a1c49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4508500"/>
            <a:ext cx="21259800" cy="50800"/>
          </a:xfrm>
          <a:prstGeom xmlns:a="http://schemas.openxmlformats.org/drawingml/2006/main" prst="rect">
            <a:avLst/>
          </a:prstGeom>
        </p:spPr>
      </p:pic>
      <p:pic>
        <p:nvPicPr>
          <p:cNvPr id="57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351e295e843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5321300" y="8140700"/>
            <a:ext cx="6451600" cy="50800"/>
          </a:xfrm>
          <a:prstGeom xmlns:a="http://schemas.openxmlformats.org/drawingml/2006/main" prst="rect">
            <a:avLst/>
          </a:prstGeom>
        </p:spPr>
      </p:pic>
      <p:pic>
        <p:nvPicPr>
          <p:cNvPr id="58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351e295e843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12611100" y="8140700"/>
            <a:ext cx="6451600" cy="50800"/>
          </a:xfrm>
          <a:prstGeom xmlns:a="http://schemas.openxmlformats.org/drawingml/2006/main" prst="rect">
            <a:avLst/>
          </a:prstGeom>
        </p:spPr>
      </p:pic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24A5496-304F-472A-9361-06C0CB4C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9600" y="3695700"/>
            <a:ext cx="206375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정적 검사, 자동 테스트, 실제 기기, 운영 API까지 단계별로 검증했습니다.</a:t>
            </a:r>
          </a:p>
        </p:txBody>
      </p:sp>
      <p:pic>
        <p:nvPicPr>
          <p:cNvPr id="60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bf6e7c1364e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8C2CC54-E340-4367-BE59-21D72E8D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QUALITY GATE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508CA56-2C48-4868-86B6-B5CCF7B9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앱 소스 45개 / 약 8,876줄, 서버 Java 26개 / 약 2,217줄. Expo Doctor 18/18과 TypeScript·lint 점검을 수행했습니다.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7C9A28D-2662-47FA-8052-61C4C425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STATIC · DOCTOR</a:t>
            </a:r>
          </a:p>
        </p:txBody>
      </p:sp>
      <p:pic>
        <p:nvPicPr>
          <p:cNvPr id="64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bf6e7c1364e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8851900" y="10375900"/>
            <a:ext cx="6667500" cy="50800"/>
          </a:xfrm>
          <a:prstGeom xmlns:a="http://schemas.openxmlformats.org/drawingml/2006/main" prst="rect">
            <a:avLst/>
          </a:prstGeom>
        </p:spPr>
      </p:pic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664FFB1-FD86-47A3-A10F-01BBB278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SERVER &amp; RUNTIME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9F0B644-BE4B-4112-9AF8-9445BD1D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서버 테스트 14개(6개 테스트 파일), Spring context, Android 주요 화면, 운영 핵심 API HTTP 200을 확인했습니다.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81AF177-CDBE-43F9-B68A-01BDA0B4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8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14 TESTS · HTTP 200</a:t>
            </a:r>
          </a:p>
        </p:txBody>
      </p:sp>
      <p:pic>
        <p:nvPicPr>
          <p:cNvPr id="68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bf6e7c1364e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6154400" y="10375900"/>
            <a:ext cx="6667500" cy="50800"/>
          </a:xfrm>
          <a:prstGeom xmlns:a="http://schemas.openxmlformats.org/drawingml/2006/main" prst="rect">
            <a:avLst/>
          </a:prstGeom>
        </p:spPr>
      </p:pic>
      <p:pic>
        <p:nvPicPr>
          <p:cNvPr id="69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116903eb643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1214100" y="5041900"/>
            <a:ext cx="1943100" cy="1943100"/>
          </a:xfrm>
          <a:prstGeom xmlns:a="http://schemas.openxmlformats.org/drawingml/2006/main" prst="rect">
            <a:avLst/>
          </a:prstGeom>
        </p:spPr>
      </p:pic>
      <p:pic>
        <p:nvPicPr>
          <p:cNvPr id="70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33ef46fd7b42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3822700" y="4953000"/>
            <a:ext cx="2133600" cy="2133600"/>
          </a:xfrm>
          <a:prstGeom xmlns:a="http://schemas.openxmlformats.org/drawingml/2006/main" prst="rect">
            <a:avLst/>
          </a:prstGeom>
        </p:spPr>
      </p:pic>
      <p:pic>
        <p:nvPicPr>
          <p:cNvPr id="71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ca03bf66047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8491200" y="5016500"/>
            <a:ext cx="1993900" cy="1993900"/>
          </a:xfrm>
          <a:prstGeom xmlns:a="http://schemas.openxmlformats.org/drawingml/2006/main" prst="rect">
            <a:avLst/>
          </a:prstGeom>
        </p:spPr>
      </p:pic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0E7D429-A81A-4A26-9DE1-5343B661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03600" y="7226300"/>
            <a:ext cx="67691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933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NEXT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672916F9-164E-4559-B19E-3D95D106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7988300"/>
            <a:ext cx="67437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41100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AED API 신뢰성 검증, 실제 응급실 데이터 모니터링, Google Play 정책 제출, 사용자 테스트 기반 검색 우선순위 개선이 다음 단계입니다.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3D249C6A-108B-4857-8730-D1FD3EC8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10820400"/>
            <a:ext cx="674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RELIABILITY → RELEASE</a:t>
            </a:r>
          </a:p>
        </p:txBody>
      </p:sp>
    </p:spTree>
    <p:extLst>
      <p:ext uri="{BB962C8B-B14F-4D97-AF65-F5344CB8AC3E}">
        <p14:creationId xmlns:p14="http://schemas.microsoft.com/office/powerpoint/2010/main" val="109637402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D1D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2259e3fa44d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520700" y="673100"/>
            <a:ext cx="23342600" cy="12369800"/>
          </a:xfrm>
          <a:prstGeom xmlns:a="http://schemas.openxmlformats.org/drawingml/2006/main" prst="rect">
            <a:avLst/>
          </a:prstGeom>
        </p:spPr>
      </p:pic>
      <p:pic>
        <p:nvPicPr>
          <p:cNvPr id="2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bde3ef2e74c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901700" y="1041400"/>
            <a:ext cx="22580600" cy="11633200"/>
          </a:xfrm>
          <a:prstGeom xmlns:a="http://schemas.openxmlformats.org/drawingml/2006/main" prst="rect">
            <a:avLst/>
          </a:prstGeom>
        </p:spPr>
      </p:pic>
      <p:pic>
        <p:nvPicPr>
          <p:cNvPr id="2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a67f566b144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62100" y="10299700"/>
            <a:ext cx="21272500" cy="50800"/>
          </a:xfrm>
          <a:prstGeom xmlns:a="http://schemas.openxmlformats.org/drawingml/2006/main" prst="rect">
            <a:avLst/>
          </a:prstGeom>
        </p:spPr>
      </p:pic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25ECA6E4-99AC-4553-B330-B1CE83A8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6900" y="4457700"/>
            <a:ext cx="7950200" cy="73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3999" b="0" i="0" u="non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검색 화면을 넘어 운영 가능한 응급 정보 서비스를 구현했습니다.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9D03633-BF8E-4624-B244-587AE80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5900" y="7112000"/>
            <a:ext cx="6248400" cy="59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31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lastcall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9B56675-9786-4193-AF44-31A66AE8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8500" y="5118100"/>
            <a:ext cx="9525000" cy="215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1999" b="0" i="0" u="non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hank you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DD8EECFC-6737-4D94-B2CA-D34FFB44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4200" y="4737100"/>
            <a:ext cx="4254500" cy="31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7732" b="0" i="0" u="none" cap="all">
                <a:solidFill>
                  <a:srgbClr val="000000"/>
                </a:solidFill>
                <a:latin typeface="Mr Dafoe Regular"/>
                <a:ea typeface="Mr Dafoe Regular"/>
                <a:cs typeface="Mr Dafoe Regular"/>
              </a:rPr>
              <a:t>T</a:t>
            </a:r>
          </a:p>
        </p:txBody>
      </p:sp>
      <p:pic>
        <p:nvPicPr>
          <p:cNvPr id="26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3123135af45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11442700" y="11442700"/>
            <a:ext cx="1511300" cy="50800"/>
          </a:xfrm>
          <a:prstGeom xmlns:a="http://schemas.openxmlformats.org/drawingml/2006/main" prst="rect">
            <a:avLst/>
          </a:prstGeom>
        </p:spPr>
      </p:pic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470EEFA-FE76-423A-ABAF-5371F4A4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5700" y="11036300"/>
            <a:ext cx="8902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project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8EDE73AB-577F-4E4C-A398-5AA147B1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11518900"/>
            <a:ext cx="889000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8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APP · SERVER · PUBLIC DATA · SECURITY · DEPLOYMENT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DA4FCEF1-F5FD-4FDD-89B2-CD764D92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2900" y="11036300"/>
            <a:ext cx="8902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399" b="0" i="0" u="non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FULL-STACK DEVELOPER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D2BDEB5B-5C85-4B1E-8F8C-4639533C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55600" y="11518900"/>
            <a:ext cx="889000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866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PARK EUI HYEOK   ·   LASTCALL PROJECT PORTFOLIO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352EC455-6FC6-476C-AB27-59BB03E5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1828800"/>
            <a:ext cx="7467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1733" b="0" i="0" u="non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LASTCALL · 2026</a:t>
            </a:r>
          </a:p>
        </p:txBody>
      </p:sp>
    </p:spTree>
    <p:extLst>
      <p:ext uri="{BB962C8B-B14F-4D97-AF65-F5344CB8AC3E}">
        <p14:creationId xmlns:p14="http://schemas.microsoft.com/office/powerpoint/2010/main" val="135525297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2026-08-03T04:52:27.0090000Z</dcterms:created>
  <dcterms:modified xsi:type="dcterms:W3CDTF">2026-08-03T04:52:27.0100000Z</dcterms:modified>
</coreProperties>
</file>